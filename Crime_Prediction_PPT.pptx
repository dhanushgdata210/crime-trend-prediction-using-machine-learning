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022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p:spPr>
      </p:sp>
      <p:sp>
        <p:nvSpPr>
          <p:cNvPr id="3" name="Shape 1"/>
          <p:cNvSpPr/>
          <p:nvPr/>
        </p:nvSpPr>
        <p:spPr>
          <a:xfrm>
            <a:off x="5943600" y="0"/>
            <a:ext cx="3200400" cy="5143500"/>
          </a:xfrm>
          <a:prstGeom prst="rect">
            <a:avLst/>
          </a:prstGeom>
          <a:solidFill>
            <a:srgbClr val="1B2A3B"/>
          </a:solidFill>
          <a:ln w="12700">
            <a:solidFill>
              <a:srgbClr val="1B2A3B"/>
            </a:solidFill>
            <a:prstDash val="solid"/>
          </a:ln>
        </p:spPr>
      </p:sp>
      <p:sp>
        <p:nvSpPr>
          <p:cNvPr id="4" name="Shape 2"/>
          <p:cNvSpPr/>
          <p:nvPr/>
        </p:nvSpPr>
        <p:spPr>
          <a:xfrm>
            <a:off x="6126480" y="274320"/>
            <a:ext cx="2834640" cy="4572000"/>
          </a:xfrm>
          <a:prstGeom prst="rect">
            <a:avLst/>
          </a:prstGeom>
          <a:solidFill>
            <a:srgbClr val="1A3A5C"/>
          </a:solidFill>
          <a:ln w="12700">
            <a:solidFill>
              <a:srgbClr val="1A3A5C"/>
            </a:solidFill>
            <a:prstDash val="solid"/>
          </a:ln>
        </p:spPr>
      </p:sp>
      <p:sp>
        <p:nvSpPr>
          <p:cNvPr id="5" name="Shape 3"/>
          <p:cNvSpPr/>
          <p:nvPr/>
        </p:nvSpPr>
        <p:spPr>
          <a:xfrm>
            <a:off x="6766560" y="1097280"/>
            <a:ext cx="1645920" cy="1645920"/>
          </a:xfrm>
          <a:prstGeom prst="ellipse">
            <a:avLst/>
          </a:prstGeom>
          <a:solidFill>
            <a:srgbClr val="C0392B">
              <a:alpha val="20000"/>
            </a:srgbClr>
          </a:solidFill>
          <a:ln w="25400">
            <a:solidFill>
              <a:srgbClr val="E74C3C"/>
            </a:solidFill>
            <a:prstDash val="solid"/>
          </a:ln>
        </p:spPr>
      </p:sp>
      <p:sp>
        <p:nvSpPr>
          <p:cNvPr id="6" name="Text 4"/>
          <p:cNvSpPr/>
          <p:nvPr/>
        </p:nvSpPr>
        <p:spPr>
          <a:xfrm>
            <a:off x="6766560" y="1234440"/>
            <a:ext cx="1645920" cy="1371600"/>
          </a:xfrm>
          <a:prstGeom prst="rect">
            <a:avLst/>
          </a:prstGeom>
          <a:noFill/>
          <a:ln/>
        </p:spPr>
        <p:txBody>
          <a:bodyPr wrap="square" rtlCol="0" anchor="ctr"/>
          <a:lstStyle/>
          <a:p>
            <a:pPr marL="0" indent="0" algn="ctr">
              <a:buNone/>
            </a:pPr>
            <a:r>
              <a:rPr lang="en-US" sz="4200" dirty="0">
                <a:solidFill>
                  <a:srgbClr val="FFFFFF"/>
                </a:solidFill>
              </a:rPr>
              <a:t>⚖</a:t>
            </a:r>
            <a:endParaRPr lang="en-US" sz="4200" dirty="0"/>
          </a:p>
        </p:txBody>
      </p:sp>
      <p:sp>
        <p:nvSpPr>
          <p:cNvPr id="9" name="Text 7"/>
          <p:cNvSpPr/>
          <p:nvPr/>
        </p:nvSpPr>
        <p:spPr>
          <a:xfrm>
            <a:off x="320040" y="578358"/>
            <a:ext cx="5486400" cy="640080"/>
          </a:xfrm>
          <a:prstGeom prst="rect">
            <a:avLst/>
          </a:prstGeom>
          <a:noFill/>
          <a:ln/>
        </p:spPr>
        <p:txBody>
          <a:bodyPr wrap="square" lIns="0" tIns="0" rIns="0" bIns="0" rtlCol="0" anchor="ctr"/>
          <a:lstStyle/>
          <a:p>
            <a:pPr marL="0" indent="0">
              <a:buNone/>
            </a:pPr>
            <a:r>
              <a:rPr lang="en-US" sz="4000" b="1" dirty="0">
                <a:solidFill>
                  <a:srgbClr val="FFFFFF"/>
                </a:solidFill>
              </a:rPr>
              <a:t>Predictive Analysis of</a:t>
            </a:r>
            <a:endParaRPr lang="en-US" sz="4000" dirty="0"/>
          </a:p>
        </p:txBody>
      </p:sp>
      <p:sp>
        <p:nvSpPr>
          <p:cNvPr id="10" name="Text 8"/>
          <p:cNvSpPr/>
          <p:nvPr/>
        </p:nvSpPr>
        <p:spPr>
          <a:xfrm>
            <a:off x="310896" y="1319022"/>
            <a:ext cx="5486400" cy="1188720"/>
          </a:xfrm>
          <a:prstGeom prst="rect">
            <a:avLst/>
          </a:prstGeom>
          <a:noFill/>
          <a:ln/>
        </p:spPr>
        <p:txBody>
          <a:bodyPr wrap="square" lIns="0" tIns="0" rIns="0" bIns="0" rtlCol="0" anchor="ctr"/>
          <a:lstStyle/>
          <a:p>
            <a:pPr marL="0" indent="0">
              <a:buNone/>
            </a:pPr>
            <a:r>
              <a:rPr lang="en-US" sz="4000" b="1" dirty="0">
                <a:solidFill>
                  <a:srgbClr val="E74C3C"/>
                </a:solidFill>
              </a:rPr>
              <a:t>Crime Trends in</a:t>
            </a:r>
            <a:endParaRPr lang="en-US" sz="4000" dirty="0"/>
          </a:p>
          <a:p>
            <a:pPr marL="0" indent="0">
              <a:buNone/>
            </a:pPr>
            <a:r>
              <a:rPr lang="en-US" sz="4000" b="1" dirty="0">
                <a:solidFill>
                  <a:srgbClr val="E74C3C"/>
                </a:solidFill>
              </a:rPr>
              <a:t>Indian States</a:t>
            </a:r>
            <a:endParaRPr lang="en-US" sz="4000" dirty="0"/>
          </a:p>
        </p:txBody>
      </p:sp>
      <p:sp>
        <p:nvSpPr>
          <p:cNvPr id="11" name="Text 9"/>
          <p:cNvSpPr/>
          <p:nvPr/>
        </p:nvSpPr>
        <p:spPr>
          <a:xfrm>
            <a:off x="301752" y="2660904"/>
            <a:ext cx="5486400" cy="548640"/>
          </a:xfrm>
          <a:prstGeom prst="rect">
            <a:avLst/>
          </a:prstGeom>
          <a:noFill/>
          <a:ln/>
        </p:spPr>
        <p:txBody>
          <a:bodyPr wrap="square" lIns="0" tIns="0" rIns="0" bIns="0" rtlCol="0" anchor="ctr"/>
          <a:lstStyle/>
          <a:p>
            <a:pPr marL="0" indent="0">
              <a:buNone/>
            </a:pPr>
            <a:r>
              <a:rPr lang="en-US" sz="2400" dirty="0">
                <a:solidFill>
                  <a:srgbClr val="D6E4F0"/>
                </a:solidFill>
              </a:rPr>
              <a:t>Using Machine Learning</a:t>
            </a:r>
            <a:endParaRPr lang="en-US" sz="2400" dirty="0"/>
          </a:p>
        </p:txBody>
      </p:sp>
      <p:sp>
        <p:nvSpPr>
          <p:cNvPr id="12" name="Shape 10"/>
          <p:cNvSpPr/>
          <p:nvPr/>
        </p:nvSpPr>
        <p:spPr>
          <a:xfrm>
            <a:off x="320040" y="3429000"/>
            <a:ext cx="5029200" cy="36576"/>
          </a:xfrm>
          <a:prstGeom prst="rect">
            <a:avLst/>
          </a:prstGeom>
          <a:solidFill>
            <a:srgbClr val="8EAEC6"/>
          </a:solidFill>
          <a:ln w="12700">
            <a:solidFill>
              <a:srgbClr val="8EAEC6"/>
            </a:solidFill>
            <a:prstDash val="solid"/>
          </a:ln>
        </p:spPr>
      </p:sp>
      <p:sp>
        <p:nvSpPr>
          <p:cNvPr id="13" name="Text 11"/>
          <p:cNvSpPr/>
          <p:nvPr/>
        </p:nvSpPr>
        <p:spPr>
          <a:xfrm>
            <a:off x="320040" y="3618738"/>
            <a:ext cx="5486400" cy="946404"/>
          </a:xfrm>
          <a:prstGeom prst="rect">
            <a:avLst/>
          </a:prstGeom>
          <a:noFill/>
          <a:ln/>
        </p:spPr>
        <p:txBody>
          <a:bodyPr wrap="square" lIns="0" tIns="0" rIns="0" bIns="0" rtlCol="0" anchor="ctr"/>
          <a:lstStyle/>
          <a:p>
            <a:pPr marL="0" indent="0">
              <a:buNone/>
            </a:pPr>
            <a:r>
              <a:rPr lang="en-US" sz="1400" b="1" dirty="0">
                <a:solidFill>
                  <a:srgbClr val="8EAEC6"/>
                </a:solidFill>
              </a:rPr>
              <a:t>Team :</a:t>
            </a:r>
          </a:p>
          <a:p>
            <a:pPr marL="0" indent="0">
              <a:buNone/>
            </a:pPr>
            <a:r>
              <a:rPr lang="en-US" sz="1400" b="1" dirty="0">
                <a:solidFill>
                  <a:srgbClr val="8EAEC6"/>
                </a:solidFill>
              </a:rPr>
              <a:t>Dhanush G  |  25MDT0210</a:t>
            </a:r>
          </a:p>
          <a:p>
            <a:pPr marL="0" indent="0">
              <a:buNone/>
            </a:pPr>
            <a:r>
              <a:rPr lang="en-US" sz="1400" b="1" dirty="0">
                <a:solidFill>
                  <a:srgbClr val="8EAEC6"/>
                </a:solidFill>
              </a:rPr>
              <a:t>Aakash A     |  25MDT0212</a:t>
            </a:r>
          </a:p>
          <a:p>
            <a:pPr marL="0" indent="0">
              <a:buNone/>
            </a:pPr>
            <a:r>
              <a:rPr lang="en-US" sz="1400" b="1" dirty="0">
                <a:solidFill>
                  <a:srgbClr val="8EAEC6"/>
                </a:solidFill>
              </a:rPr>
              <a:t>Praveen Kumar K    |    25MDT0215</a:t>
            </a: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ABSTRACT</a:t>
            </a:r>
            <a:endParaRPr lang="en-US" sz="2600" dirty="0"/>
          </a:p>
        </p:txBody>
      </p:sp>
      <p:sp>
        <p:nvSpPr>
          <p:cNvPr id="5" name="Shape 3"/>
          <p:cNvSpPr/>
          <p:nvPr/>
        </p:nvSpPr>
        <p:spPr>
          <a:xfrm>
            <a:off x="365760" y="1051560"/>
            <a:ext cx="8412480" cy="3291840"/>
          </a:xfrm>
          <a:prstGeom prst="rect">
            <a:avLst/>
          </a:prstGeom>
          <a:solidFill>
            <a:srgbClr val="FFFFFF"/>
          </a:solidFill>
          <a:ln/>
          <a:effectLst>
            <a:outerShdw blurRad="101600" dist="38100" dir="8100000" algn="bl" rotWithShape="0">
              <a:srgbClr val="000000">
                <a:alpha val="10000"/>
              </a:srgbClr>
            </a:outerShdw>
          </a:effectLst>
        </p:spPr>
      </p:sp>
      <p:sp>
        <p:nvSpPr>
          <p:cNvPr id="6" name="Shape 4"/>
          <p:cNvSpPr/>
          <p:nvPr/>
        </p:nvSpPr>
        <p:spPr>
          <a:xfrm>
            <a:off x="365760" y="1051560"/>
            <a:ext cx="109728" cy="3291840"/>
          </a:xfrm>
          <a:prstGeom prst="rect">
            <a:avLst/>
          </a:prstGeom>
          <a:solidFill>
            <a:srgbClr val="C0392B"/>
          </a:solidFill>
          <a:ln w="12700">
            <a:solidFill>
              <a:srgbClr val="C0392B"/>
            </a:solidFill>
            <a:prstDash val="solid"/>
          </a:ln>
        </p:spPr>
      </p:sp>
      <p:sp>
        <p:nvSpPr>
          <p:cNvPr id="7" name="Text 5"/>
          <p:cNvSpPr/>
          <p:nvPr/>
        </p:nvSpPr>
        <p:spPr>
          <a:xfrm>
            <a:off x="548640" y="960120"/>
            <a:ext cx="914400" cy="822960"/>
          </a:xfrm>
          <a:prstGeom prst="rect">
            <a:avLst/>
          </a:prstGeom>
          <a:noFill/>
          <a:ln/>
        </p:spPr>
        <p:txBody>
          <a:bodyPr wrap="square" lIns="0" tIns="0" rIns="0" bIns="0" rtlCol="0" anchor="ctr"/>
          <a:lstStyle/>
          <a:p>
            <a:pPr marL="0" indent="0">
              <a:buNone/>
            </a:pPr>
            <a:r>
              <a:rPr lang="en-US" sz="6000" b="1" dirty="0">
                <a:solidFill>
                  <a:srgbClr val="E74C3C"/>
                </a:solidFill>
              </a:rPr>
              <a:t>"</a:t>
            </a:r>
            <a:endParaRPr lang="en-US" sz="6000" dirty="0"/>
          </a:p>
        </p:txBody>
      </p:sp>
      <p:sp>
        <p:nvSpPr>
          <p:cNvPr id="8" name="Text 6"/>
          <p:cNvSpPr/>
          <p:nvPr/>
        </p:nvSpPr>
        <p:spPr>
          <a:xfrm>
            <a:off x="640080" y="1554480"/>
            <a:ext cx="7863840" cy="2468880"/>
          </a:xfrm>
          <a:prstGeom prst="rect">
            <a:avLst/>
          </a:prstGeom>
          <a:noFill/>
          <a:ln/>
        </p:spPr>
        <p:txBody>
          <a:bodyPr wrap="square" lIns="0" tIns="0" rIns="0" bIns="0" rtlCol="0" anchor="ctr"/>
          <a:lstStyle/>
          <a:p>
            <a:pPr marL="0" indent="0">
              <a:lnSpc>
                <a:spcPct val="140000"/>
              </a:lnSpc>
              <a:buNone/>
            </a:pPr>
            <a:r>
              <a:rPr lang="en-US" sz="1500" dirty="0">
                <a:solidFill>
                  <a:srgbClr val="0D1B2A"/>
                </a:solidFill>
              </a:rPr>
              <a:t>This project focuses on analyzing and predicting crime trends across Indian states using machine learning techniques. Historical crime data is used to identify patterns and forecast future crime rates. Linear Regression is applied to model trends and generate predictions for upcoming years. The study helps in understanding crime patterns and supports decision-making for law enforcement and policy planning.</a:t>
            </a:r>
            <a:endParaRPr lang="en-US" sz="1500" dirty="0"/>
          </a:p>
        </p:txBody>
      </p:sp>
      <p:sp>
        <p:nvSpPr>
          <p:cNvPr id="9" name="Text 7"/>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PROBLEM STATEMENT</a:t>
            </a:r>
            <a:endParaRPr lang="en-US" sz="2600" dirty="0"/>
          </a:p>
        </p:txBody>
      </p:sp>
      <p:sp>
        <p:nvSpPr>
          <p:cNvPr id="5" name="Shape 3"/>
          <p:cNvSpPr/>
          <p:nvPr/>
        </p:nvSpPr>
        <p:spPr>
          <a:xfrm>
            <a:off x="365760" y="1097280"/>
            <a:ext cx="8412480" cy="777240"/>
          </a:xfrm>
          <a:prstGeom prst="rect">
            <a:avLst/>
          </a:prstGeom>
          <a:solidFill>
            <a:srgbClr val="FFFFFF"/>
          </a:solidFill>
          <a:ln/>
          <a:effectLst>
            <a:outerShdw blurRad="63500" dist="25400" dir="8100000" algn="bl" rotWithShape="0">
              <a:srgbClr val="000000">
                <a:alpha val="8000"/>
              </a:srgbClr>
            </a:outerShdw>
          </a:effectLst>
        </p:spPr>
      </p:sp>
      <p:sp>
        <p:nvSpPr>
          <p:cNvPr id="6" name="Shape 4"/>
          <p:cNvSpPr/>
          <p:nvPr/>
        </p:nvSpPr>
        <p:spPr>
          <a:xfrm>
            <a:off x="365760" y="1097280"/>
            <a:ext cx="109728" cy="777240"/>
          </a:xfrm>
          <a:prstGeom prst="rect">
            <a:avLst/>
          </a:prstGeom>
          <a:solidFill>
            <a:srgbClr val="C0392B"/>
          </a:solidFill>
          <a:ln w="12700">
            <a:solidFill>
              <a:srgbClr val="C0392B"/>
            </a:solidFill>
            <a:prstDash val="solid"/>
          </a:ln>
        </p:spPr>
      </p:sp>
      <p:sp>
        <p:nvSpPr>
          <p:cNvPr id="7" name="Text 5"/>
          <p:cNvSpPr/>
          <p:nvPr/>
        </p:nvSpPr>
        <p:spPr>
          <a:xfrm>
            <a:off x="548640" y="1207008"/>
            <a:ext cx="64008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8" name="Text 6"/>
          <p:cNvSpPr/>
          <p:nvPr/>
        </p:nvSpPr>
        <p:spPr>
          <a:xfrm>
            <a:off x="1234440" y="1234440"/>
            <a:ext cx="7223760" cy="502920"/>
          </a:xfrm>
          <a:prstGeom prst="rect">
            <a:avLst/>
          </a:prstGeom>
          <a:noFill/>
          <a:ln/>
        </p:spPr>
        <p:txBody>
          <a:bodyPr wrap="square" lIns="0" tIns="0" rIns="0" bIns="0" rtlCol="0" anchor="ctr"/>
          <a:lstStyle/>
          <a:p>
            <a:pPr marL="0" indent="0">
              <a:buNone/>
            </a:pPr>
            <a:r>
              <a:rPr lang="en-US" sz="1500" dirty="0">
                <a:solidFill>
                  <a:srgbClr val="0D1B2A"/>
                </a:solidFill>
              </a:rPr>
              <a:t>Crime rates in India vary significantly across states and years</a:t>
            </a:r>
            <a:endParaRPr lang="en-US" sz="1500" dirty="0"/>
          </a:p>
        </p:txBody>
      </p:sp>
      <p:sp>
        <p:nvSpPr>
          <p:cNvPr id="9" name="Shape 7"/>
          <p:cNvSpPr/>
          <p:nvPr/>
        </p:nvSpPr>
        <p:spPr>
          <a:xfrm>
            <a:off x="365760" y="2057400"/>
            <a:ext cx="8412480" cy="777240"/>
          </a:xfrm>
          <a:prstGeom prst="rect">
            <a:avLst/>
          </a:prstGeom>
          <a:solidFill>
            <a:srgbClr val="FFFFFF"/>
          </a:solidFill>
          <a:ln/>
          <a:effectLst>
            <a:outerShdw blurRad="63500" dist="25400" dir="8100000" algn="bl" rotWithShape="0">
              <a:srgbClr val="000000">
                <a:alpha val="8000"/>
              </a:srgbClr>
            </a:outerShdw>
          </a:effectLst>
        </p:spPr>
      </p:sp>
      <p:sp>
        <p:nvSpPr>
          <p:cNvPr id="10" name="Shape 8"/>
          <p:cNvSpPr/>
          <p:nvPr/>
        </p:nvSpPr>
        <p:spPr>
          <a:xfrm>
            <a:off x="365760" y="2057400"/>
            <a:ext cx="109728" cy="777240"/>
          </a:xfrm>
          <a:prstGeom prst="rect">
            <a:avLst/>
          </a:prstGeom>
          <a:solidFill>
            <a:srgbClr val="C0392B"/>
          </a:solidFill>
          <a:ln w="12700">
            <a:solidFill>
              <a:srgbClr val="C0392B"/>
            </a:solidFill>
            <a:prstDash val="solid"/>
          </a:ln>
        </p:spPr>
      </p:sp>
      <p:sp>
        <p:nvSpPr>
          <p:cNvPr id="11" name="Text 9"/>
          <p:cNvSpPr/>
          <p:nvPr/>
        </p:nvSpPr>
        <p:spPr>
          <a:xfrm>
            <a:off x="548640" y="2167128"/>
            <a:ext cx="64008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2" name="Text 10"/>
          <p:cNvSpPr/>
          <p:nvPr/>
        </p:nvSpPr>
        <p:spPr>
          <a:xfrm>
            <a:off x="1234440" y="2194560"/>
            <a:ext cx="7223760" cy="502920"/>
          </a:xfrm>
          <a:prstGeom prst="rect">
            <a:avLst/>
          </a:prstGeom>
          <a:noFill/>
          <a:ln/>
        </p:spPr>
        <p:txBody>
          <a:bodyPr wrap="square" lIns="0" tIns="0" rIns="0" bIns="0" rtlCol="0" anchor="ctr"/>
          <a:lstStyle/>
          <a:p>
            <a:pPr marL="0" indent="0">
              <a:buNone/>
            </a:pPr>
            <a:r>
              <a:rPr lang="en-US" sz="1500" dirty="0">
                <a:solidFill>
                  <a:srgbClr val="0D1B2A"/>
                </a:solidFill>
              </a:rPr>
              <a:t>Difficult to manually analyze trends and forecast future risks</a:t>
            </a:r>
            <a:endParaRPr lang="en-US" sz="1500" dirty="0"/>
          </a:p>
        </p:txBody>
      </p:sp>
      <p:sp>
        <p:nvSpPr>
          <p:cNvPr id="13" name="Shape 11"/>
          <p:cNvSpPr/>
          <p:nvPr/>
        </p:nvSpPr>
        <p:spPr>
          <a:xfrm>
            <a:off x="365760" y="3017520"/>
            <a:ext cx="8412480" cy="777240"/>
          </a:xfrm>
          <a:prstGeom prst="rect">
            <a:avLst/>
          </a:prstGeom>
          <a:solidFill>
            <a:srgbClr val="FFFFFF"/>
          </a:solidFill>
          <a:ln/>
          <a:effectLst>
            <a:outerShdw blurRad="63500" dist="25400" dir="8100000" algn="bl" rotWithShape="0">
              <a:srgbClr val="000000">
                <a:alpha val="8000"/>
              </a:srgbClr>
            </a:outerShdw>
          </a:effectLst>
        </p:spPr>
      </p:sp>
      <p:sp>
        <p:nvSpPr>
          <p:cNvPr id="14" name="Shape 12"/>
          <p:cNvSpPr/>
          <p:nvPr/>
        </p:nvSpPr>
        <p:spPr>
          <a:xfrm>
            <a:off x="365760" y="3017520"/>
            <a:ext cx="109728" cy="777240"/>
          </a:xfrm>
          <a:prstGeom prst="rect">
            <a:avLst/>
          </a:prstGeom>
          <a:solidFill>
            <a:srgbClr val="C0392B"/>
          </a:solidFill>
          <a:ln w="12700">
            <a:solidFill>
              <a:srgbClr val="C0392B"/>
            </a:solidFill>
            <a:prstDash val="solid"/>
          </a:ln>
        </p:spPr>
      </p:sp>
      <p:sp>
        <p:nvSpPr>
          <p:cNvPr id="15" name="Text 13"/>
          <p:cNvSpPr/>
          <p:nvPr/>
        </p:nvSpPr>
        <p:spPr>
          <a:xfrm>
            <a:off x="548640" y="3127248"/>
            <a:ext cx="640080" cy="54864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6" name="Text 14"/>
          <p:cNvSpPr/>
          <p:nvPr/>
        </p:nvSpPr>
        <p:spPr>
          <a:xfrm>
            <a:off x="1234440" y="3154680"/>
            <a:ext cx="7223760" cy="502920"/>
          </a:xfrm>
          <a:prstGeom prst="rect">
            <a:avLst/>
          </a:prstGeom>
          <a:noFill/>
          <a:ln/>
        </p:spPr>
        <p:txBody>
          <a:bodyPr wrap="square" lIns="0" tIns="0" rIns="0" bIns="0" rtlCol="0" anchor="ctr"/>
          <a:lstStyle/>
          <a:p>
            <a:pPr marL="0" indent="0">
              <a:buNone/>
            </a:pPr>
            <a:r>
              <a:rPr lang="en-US" sz="1500" dirty="0">
                <a:solidFill>
                  <a:srgbClr val="0D1B2A"/>
                </a:solidFill>
              </a:rPr>
              <a:t>Need a data-driven predictive system for proactive planning</a:t>
            </a:r>
            <a:endParaRPr lang="en-US" sz="1500" dirty="0"/>
          </a:p>
        </p:txBody>
      </p:sp>
      <p:sp>
        <p:nvSpPr>
          <p:cNvPr id="17" name="Shape 15"/>
          <p:cNvSpPr/>
          <p:nvPr/>
        </p:nvSpPr>
        <p:spPr>
          <a:xfrm>
            <a:off x="365760" y="4023360"/>
            <a:ext cx="8412480" cy="822960"/>
          </a:xfrm>
          <a:prstGeom prst="rect">
            <a:avLst/>
          </a:prstGeom>
          <a:solidFill>
            <a:srgbClr val="0D1B2A"/>
          </a:solidFill>
          <a:ln w="12700">
            <a:solidFill>
              <a:srgbClr val="0D1B2A"/>
            </a:solidFill>
            <a:prstDash val="solid"/>
          </a:ln>
        </p:spPr>
      </p:sp>
      <p:sp>
        <p:nvSpPr>
          <p:cNvPr id="18" name="Text 16"/>
          <p:cNvSpPr/>
          <p:nvPr/>
        </p:nvSpPr>
        <p:spPr>
          <a:xfrm>
            <a:off x="548640" y="4023360"/>
            <a:ext cx="1371600" cy="822960"/>
          </a:xfrm>
          <a:prstGeom prst="rect">
            <a:avLst/>
          </a:prstGeom>
          <a:noFill/>
          <a:ln/>
        </p:spPr>
        <p:txBody>
          <a:bodyPr wrap="square" lIns="0" tIns="0" rIns="0" bIns="0" rtlCol="0" anchor="ctr"/>
          <a:lstStyle/>
          <a:p>
            <a:pPr marL="0" indent="0">
              <a:buNone/>
            </a:pPr>
            <a:r>
              <a:rPr lang="en-US" sz="1300" b="1" dirty="0">
                <a:solidFill>
                  <a:srgbClr val="F39C12"/>
                </a:solidFill>
              </a:rPr>
              <a:t>Helps In:</a:t>
            </a:r>
            <a:endParaRPr lang="en-US" sz="1300" dirty="0"/>
          </a:p>
        </p:txBody>
      </p:sp>
      <p:sp>
        <p:nvSpPr>
          <p:cNvPr id="19" name="Text 17"/>
          <p:cNvSpPr/>
          <p:nvPr/>
        </p:nvSpPr>
        <p:spPr>
          <a:xfrm>
            <a:off x="1920240" y="4023360"/>
            <a:ext cx="6583680" cy="822960"/>
          </a:xfrm>
          <a:prstGeom prst="rect">
            <a:avLst/>
          </a:prstGeom>
          <a:noFill/>
          <a:ln/>
        </p:spPr>
        <p:txBody>
          <a:bodyPr wrap="square" lIns="0" tIns="0" rIns="0" bIns="0" rtlCol="0" anchor="ctr"/>
          <a:lstStyle/>
          <a:p>
            <a:pPr marL="0" indent="0">
              <a:buNone/>
            </a:pPr>
            <a:r>
              <a:rPr lang="en-US" sz="1300" dirty="0">
                <a:solidFill>
                  <a:srgbClr val="FFFFFF"/>
                </a:solidFill>
              </a:rPr>
              <a:t>Crime Prevention   |   Resource Allocation   |   Policy Planning</a:t>
            </a:r>
            <a:endParaRPr lang="en-US" sz="1300" dirty="0"/>
          </a:p>
        </p:txBody>
      </p:sp>
      <p:sp>
        <p:nvSpPr>
          <p:cNvPr id="20" name="Text 18"/>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OBJECTIVES</a:t>
            </a:r>
            <a:endParaRPr lang="en-US" sz="2600" dirty="0"/>
          </a:p>
        </p:txBody>
      </p:sp>
      <p:sp>
        <p:nvSpPr>
          <p:cNvPr id="5" name="Shape 3"/>
          <p:cNvSpPr/>
          <p:nvPr/>
        </p:nvSpPr>
        <p:spPr>
          <a:xfrm>
            <a:off x="365760" y="1097280"/>
            <a:ext cx="4206240" cy="868680"/>
          </a:xfrm>
          <a:prstGeom prst="rect">
            <a:avLst/>
          </a:prstGeom>
          <a:solidFill>
            <a:srgbClr val="FFFFFF"/>
          </a:solidFill>
          <a:ln/>
          <a:effectLst>
            <a:outerShdw blurRad="63500" dist="25400" dir="8100000" algn="bl" rotWithShape="0">
              <a:srgbClr val="000000">
                <a:alpha val="8000"/>
              </a:srgbClr>
            </a:outerShdw>
          </a:effectLst>
        </p:spPr>
      </p:sp>
      <p:sp>
        <p:nvSpPr>
          <p:cNvPr id="6" name="Shape 4"/>
          <p:cNvSpPr/>
          <p:nvPr/>
        </p:nvSpPr>
        <p:spPr>
          <a:xfrm>
            <a:off x="365760" y="1097280"/>
            <a:ext cx="640080" cy="868680"/>
          </a:xfrm>
          <a:prstGeom prst="rect">
            <a:avLst/>
          </a:prstGeom>
          <a:solidFill>
            <a:srgbClr val="C0392B"/>
          </a:solidFill>
          <a:ln w="12700">
            <a:solidFill>
              <a:srgbClr val="C0392B"/>
            </a:solidFill>
            <a:prstDash val="solid"/>
          </a:ln>
        </p:spPr>
      </p:sp>
      <p:sp>
        <p:nvSpPr>
          <p:cNvPr id="7" name="Text 5"/>
          <p:cNvSpPr/>
          <p:nvPr/>
        </p:nvSpPr>
        <p:spPr>
          <a:xfrm>
            <a:off x="365760" y="1097280"/>
            <a:ext cx="640080" cy="86868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8" name="Text 6"/>
          <p:cNvSpPr/>
          <p:nvPr/>
        </p:nvSpPr>
        <p:spPr>
          <a:xfrm>
            <a:off x="1097280" y="1188720"/>
            <a:ext cx="3383280" cy="685800"/>
          </a:xfrm>
          <a:prstGeom prst="rect">
            <a:avLst/>
          </a:prstGeom>
          <a:noFill/>
          <a:ln/>
        </p:spPr>
        <p:txBody>
          <a:bodyPr wrap="square" lIns="0" tIns="0" rIns="0" bIns="0" rtlCol="0" anchor="ctr"/>
          <a:lstStyle/>
          <a:p>
            <a:pPr marL="0" indent="0">
              <a:buNone/>
            </a:pPr>
            <a:r>
              <a:rPr lang="en-US" sz="1200" dirty="0">
                <a:solidFill>
                  <a:srgbClr val="0D1B2A"/>
                </a:solidFill>
              </a:rPr>
              <a:t>Analyze historical crime data through Exploratory Data Analysis (EDA)</a:t>
            </a:r>
            <a:endParaRPr lang="en-US" sz="1200" dirty="0"/>
          </a:p>
        </p:txBody>
      </p:sp>
      <p:sp>
        <p:nvSpPr>
          <p:cNvPr id="9" name="Shape 7"/>
          <p:cNvSpPr/>
          <p:nvPr/>
        </p:nvSpPr>
        <p:spPr>
          <a:xfrm>
            <a:off x="365760" y="2148840"/>
            <a:ext cx="4206240" cy="868680"/>
          </a:xfrm>
          <a:prstGeom prst="rect">
            <a:avLst/>
          </a:prstGeom>
          <a:solidFill>
            <a:srgbClr val="FFFFFF"/>
          </a:solidFill>
          <a:ln/>
          <a:effectLst>
            <a:outerShdw blurRad="63500" dist="25400" dir="8100000" algn="bl" rotWithShape="0">
              <a:srgbClr val="000000">
                <a:alpha val="8000"/>
              </a:srgbClr>
            </a:outerShdw>
          </a:effectLst>
        </p:spPr>
      </p:sp>
      <p:sp>
        <p:nvSpPr>
          <p:cNvPr id="10" name="Shape 8"/>
          <p:cNvSpPr/>
          <p:nvPr/>
        </p:nvSpPr>
        <p:spPr>
          <a:xfrm>
            <a:off x="365760" y="2148840"/>
            <a:ext cx="640080" cy="868680"/>
          </a:xfrm>
          <a:prstGeom prst="rect">
            <a:avLst/>
          </a:prstGeom>
          <a:solidFill>
            <a:srgbClr val="C0392B"/>
          </a:solidFill>
          <a:ln w="12700">
            <a:solidFill>
              <a:srgbClr val="C0392B"/>
            </a:solidFill>
            <a:prstDash val="solid"/>
          </a:ln>
        </p:spPr>
      </p:sp>
      <p:sp>
        <p:nvSpPr>
          <p:cNvPr id="11" name="Text 9"/>
          <p:cNvSpPr/>
          <p:nvPr/>
        </p:nvSpPr>
        <p:spPr>
          <a:xfrm>
            <a:off x="365760" y="2148840"/>
            <a:ext cx="640080" cy="86868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2" name="Text 10"/>
          <p:cNvSpPr/>
          <p:nvPr/>
        </p:nvSpPr>
        <p:spPr>
          <a:xfrm>
            <a:off x="1097280" y="2240280"/>
            <a:ext cx="3383280" cy="685800"/>
          </a:xfrm>
          <a:prstGeom prst="rect">
            <a:avLst/>
          </a:prstGeom>
          <a:noFill/>
          <a:ln/>
        </p:spPr>
        <p:txBody>
          <a:bodyPr wrap="square" lIns="0" tIns="0" rIns="0" bIns="0" rtlCol="0" anchor="ctr"/>
          <a:lstStyle/>
          <a:p>
            <a:pPr marL="0" indent="0">
              <a:buNone/>
            </a:pPr>
            <a:r>
              <a:rPr lang="en-US" sz="1200" dirty="0">
                <a:solidFill>
                  <a:srgbClr val="0D1B2A"/>
                </a:solidFill>
              </a:rPr>
              <a:t>Identify crime patterns and trends across Indian states</a:t>
            </a:r>
            <a:endParaRPr lang="en-US" sz="1200" dirty="0"/>
          </a:p>
        </p:txBody>
      </p:sp>
      <p:sp>
        <p:nvSpPr>
          <p:cNvPr id="13" name="Shape 11"/>
          <p:cNvSpPr/>
          <p:nvPr/>
        </p:nvSpPr>
        <p:spPr>
          <a:xfrm>
            <a:off x="365760" y="3200400"/>
            <a:ext cx="4206240" cy="868680"/>
          </a:xfrm>
          <a:prstGeom prst="rect">
            <a:avLst/>
          </a:prstGeom>
          <a:solidFill>
            <a:srgbClr val="FFFFFF"/>
          </a:solidFill>
          <a:ln/>
          <a:effectLst>
            <a:outerShdw blurRad="63500" dist="25400" dir="8100000" algn="bl" rotWithShape="0">
              <a:srgbClr val="000000">
                <a:alpha val="8000"/>
              </a:srgbClr>
            </a:outerShdw>
          </a:effectLst>
        </p:spPr>
      </p:sp>
      <p:sp>
        <p:nvSpPr>
          <p:cNvPr id="14" name="Shape 12"/>
          <p:cNvSpPr/>
          <p:nvPr/>
        </p:nvSpPr>
        <p:spPr>
          <a:xfrm>
            <a:off x="365760" y="3200400"/>
            <a:ext cx="640080" cy="868680"/>
          </a:xfrm>
          <a:prstGeom prst="rect">
            <a:avLst/>
          </a:prstGeom>
          <a:solidFill>
            <a:srgbClr val="C0392B"/>
          </a:solidFill>
          <a:ln w="12700">
            <a:solidFill>
              <a:srgbClr val="C0392B"/>
            </a:solidFill>
            <a:prstDash val="solid"/>
          </a:ln>
        </p:spPr>
      </p:sp>
      <p:sp>
        <p:nvSpPr>
          <p:cNvPr id="15" name="Text 13"/>
          <p:cNvSpPr/>
          <p:nvPr/>
        </p:nvSpPr>
        <p:spPr>
          <a:xfrm>
            <a:off x="365760" y="3200400"/>
            <a:ext cx="640080" cy="86868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6" name="Text 14"/>
          <p:cNvSpPr/>
          <p:nvPr/>
        </p:nvSpPr>
        <p:spPr>
          <a:xfrm>
            <a:off x="1097280" y="3291840"/>
            <a:ext cx="3383280" cy="685800"/>
          </a:xfrm>
          <a:prstGeom prst="rect">
            <a:avLst/>
          </a:prstGeom>
          <a:noFill/>
          <a:ln/>
        </p:spPr>
        <p:txBody>
          <a:bodyPr wrap="square" lIns="0" tIns="0" rIns="0" bIns="0" rtlCol="0" anchor="ctr"/>
          <a:lstStyle/>
          <a:p>
            <a:pPr marL="0" indent="0">
              <a:buNone/>
            </a:pPr>
            <a:r>
              <a:rPr lang="en-US" sz="1200" dirty="0">
                <a:solidFill>
                  <a:srgbClr val="0D1B2A"/>
                </a:solidFill>
              </a:rPr>
              <a:t>Build a Linear Regression predictive model</a:t>
            </a:r>
            <a:endParaRPr lang="en-US" sz="1200" dirty="0"/>
          </a:p>
        </p:txBody>
      </p:sp>
      <p:sp>
        <p:nvSpPr>
          <p:cNvPr id="17" name="Shape 15"/>
          <p:cNvSpPr/>
          <p:nvPr/>
        </p:nvSpPr>
        <p:spPr>
          <a:xfrm>
            <a:off x="4800600" y="1097280"/>
            <a:ext cx="4206240" cy="868680"/>
          </a:xfrm>
          <a:prstGeom prst="rect">
            <a:avLst/>
          </a:prstGeom>
          <a:solidFill>
            <a:srgbClr val="FFFFFF"/>
          </a:solidFill>
          <a:ln/>
          <a:effectLst>
            <a:outerShdw blurRad="63500" dist="25400" dir="8100000" algn="bl" rotWithShape="0">
              <a:srgbClr val="000000">
                <a:alpha val="8000"/>
              </a:srgbClr>
            </a:outerShdw>
          </a:effectLst>
        </p:spPr>
      </p:sp>
      <p:sp>
        <p:nvSpPr>
          <p:cNvPr id="18" name="Shape 16"/>
          <p:cNvSpPr/>
          <p:nvPr/>
        </p:nvSpPr>
        <p:spPr>
          <a:xfrm>
            <a:off x="4800600" y="1097280"/>
            <a:ext cx="640080" cy="868680"/>
          </a:xfrm>
          <a:prstGeom prst="rect">
            <a:avLst/>
          </a:prstGeom>
          <a:solidFill>
            <a:srgbClr val="C0392B"/>
          </a:solidFill>
          <a:ln w="12700">
            <a:solidFill>
              <a:srgbClr val="C0392B"/>
            </a:solidFill>
            <a:prstDash val="solid"/>
          </a:ln>
        </p:spPr>
      </p:sp>
      <p:sp>
        <p:nvSpPr>
          <p:cNvPr id="19" name="Text 17"/>
          <p:cNvSpPr/>
          <p:nvPr/>
        </p:nvSpPr>
        <p:spPr>
          <a:xfrm>
            <a:off x="4800600" y="1097280"/>
            <a:ext cx="640080" cy="86868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0" name="Text 18"/>
          <p:cNvSpPr/>
          <p:nvPr/>
        </p:nvSpPr>
        <p:spPr>
          <a:xfrm>
            <a:off x="5532120" y="1188720"/>
            <a:ext cx="3383280" cy="685800"/>
          </a:xfrm>
          <a:prstGeom prst="rect">
            <a:avLst/>
          </a:prstGeom>
          <a:noFill/>
          <a:ln/>
        </p:spPr>
        <p:txBody>
          <a:bodyPr wrap="square" lIns="0" tIns="0" rIns="0" bIns="0" rtlCol="0" anchor="ctr"/>
          <a:lstStyle/>
          <a:p>
            <a:pPr marL="0" indent="0">
              <a:buNone/>
            </a:pPr>
            <a:r>
              <a:rPr lang="en-US" sz="1200" dirty="0">
                <a:solidFill>
                  <a:srgbClr val="0D1B2A"/>
                </a:solidFill>
              </a:rPr>
              <a:t>Predict future crime rates for years 2023–2025</a:t>
            </a:r>
            <a:endParaRPr lang="en-US" sz="1200" dirty="0"/>
          </a:p>
        </p:txBody>
      </p:sp>
      <p:sp>
        <p:nvSpPr>
          <p:cNvPr id="21" name="Shape 19"/>
          <p:cNvSpPr/>
          <p:nvPr/>
        </p:nvSpPr>
        <p:spPr>
          <a:xfrm>
            <a:off x="4800600" y="2148840"/>
            <a:ext cx="4206240" cy="868680"/>
          </a:xfrm>
          <a:prstGeom prst="rect">
            <a:avLst/>
          </a:prstGeom>
          <a:solidFill>
            <a:srgbClr val="FFFFFF"/>
          </a:solidFill>
          <a:ln/>
          <a:effectLst>
            <a:outerShdw blurRad="63500" dist="25400" dir="8100000" algn="bl" rotWithShape="0">
              <a:srgbClr val="000000">
                <a:alpha val="8000"/>
              </a:srgbClr>
            </a:outerShdw>
          </a:effectLst>
        </p:spPr>
      </p:sp>
      <p:sp>
        <p:nvSpPr>
          <p:cNvPr id="22" name="Shape 20"/>
          <p:cNvSpPr/>
          <p:nvPr/>
        </p:nvSpPr>
        <p:spPr>
          <a:xfrm>
            <a:off x="4800600" y="2148840"/>
            <a:ext cx="640080" cy="868680"/>
          </a:xfrm>
          <a:prstGeom prst="rect">
            <a:avLst/>
          </a:prstGeom>
          <a:solidFill>
            <a:srgbClr val="C0392B"/>
          </a:solidFill>
          <a:ln w="12700">
            <a:solidFill>
              <a:srgbClr val="C0392B"/>
            </a:solidFill>
            <a:prstDash val="solid"/>
          </a:ln>
        </p:spPr>
      </p:sp>
      <p:sp>
        <p:nvSpPr>
          <p:cNvPr id="23" name="Text 21"/>
          <p:cNvSpPr/>
          <p:nvPr/>
        </p:nvSpPr>
        <p:spPr>
          <a:xfrm>
            <a:off x="4800600" y="2148840"/>
            <a:ext cx="640080" cy="86868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4" name="Text 22"/>
          <p:cNvSpPr/>
          <p:nvPr/>
        </p:nvSpPr>
        <p:spPr>
          <a:xfrm>
            <a:off x="5532120" y="2240280"/>
            <a:ext cx="3383280" cy="685800"/>
          </a:xfrm>
          <a:prstGeom prst="rect">
            <a:avLst/>
          </a:prstGeom>
          <a:noFill/>
          <a:ln/>
        </p:spPr>
        <p:txBody>
          <a:bodyPr wrap="square" lIns="0" tIns="0" rIns="0" bIns="0" rtlCol="0" anchor="ctr"/>
          <a:lstStyle/>
          <a:p>
            <a:pPr marL="0" indent="0">
              <a:buNone/>
            </a:pPr>
            <a:r>
              <a:rPr lang="en-US" sz="1200" dirty="0">
                <a:solidFill>
                  <a:srgbClr val="0D1B2A"/>
                </a:solidFill>
              </a:rPr>
              <a:t>Visualize results for better understanding and decision-making</a:t>
            </a:r>
            <a:endParaRPr lang="en-US" sz="1200" dirty="0"/>
          </a:p>
        </p:txBody>
      </p:sp>
      <p:sp>
        <p:nvSpPr>
          <p:cNvPr id="25" name="Text 23"/>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20040" y="182880"/>
            <a:ext cx="8503920" cy="594360"/>
          </a:xfrm>
          <a:prstGeom prst="rect">
            <a:avLst/>
          </a:prstGeom>
          <a:noFill/>
          <a:ln/>
        </p:spPr>
        <p:txBody>
          <a:bodyPr wrap="square" lIns="0" tIns="0" rIns="0" bIns="0" rtlCol="0" anchor="ctr"/>
          <a:lstStyle/>
          <a:p>
            <a:pPr marL="0" indent="0">
              <a:buNone/>
            </a:pPr>
            <a:r>
              <a:rPr lang="en-US" sz="2600" b="1" dirty="0">
                <a:solidFill>
                  <a:srgbClr val="FFFFFF"/>
                </a:solidFill>
              </a:rPr>
              <a:t>METHODOLOGY</a:t>
            </a:r>
            <a:endParaRPr lang="en-US" sz="2600" dirty="0"/>
          </a:p>
        </p:txBody>
      </p:sp>
      <p:sp>
        <p:nvSpPr>
          <p:cNvPr id="4" name="Shape 2"/>
          <p:cNvSpPr/>
          <p:nvPr/>
        </p:nvSpPr>
        <p:spPr>
          <a:xfrm>
            <a:off x="320040" y="804672"/>
            <a:ext cx="8503920" cy="36576"/>
          </a:xfrm>
          <a:prstGeom prst="rect">
            <a:avLst/>
          </a:prstGeom>
          <a:solidFill>
            <a:srgbClr val="8EAEC6"/>
          </a:solidFill>
          <a:ln w="12700">
            <a:solidFill>
              <a:srgbClr val="8EAEC6"/>
            </a:solidFill>
            <a:prstDash val="solid"/>
          </a:ln>
        </p:spPr>
      </p:sp>
      <p:sp>
        <p:nvSpPr>
          <p:cNvPr id="5" name="Shape 3"/>
          <p:cNvSpPr/>
          <p:nvPr/>
        </p:nvSpPr>
        <p:spPr>
          <a:xfrm>
            <a:off x="1490472" y="1664208"/>
            <a:ext cx="274320" cy="64008"/>
          </a:xfrm>
          <a:prstGeom prst="rect">
            <a:avLst/>
          </a:prstGeom>
          <a:solidFill>
            <a:srgbClr val="F39C12"/>
          </a:solidFill>
          <a:ln w="12700">
            <a:solidFill>
              <a:srgbClr val="F39C12"/>
            </a:solidFill>
            <a:prstDash val="solid"/>
          </a:ln>
        </p:spPr>
      </p:sp>
      <p:sp>
        <p:nvSpPr>
          <p:cNvPr id="6" name="Shape 4"/>
          <p:cNvSpPr/>
          <p:nvPr/>
        </p:nvSpPr>
        <p:spPr>
          <a:xfrm>
            <a:off x="320040" y="1005840"/>
            <a:ext cx="1188720" cy="3657600"/>
          </a:xfrm>
          <a:prstGeom prst="rect">
            <a:avLst/>
          </a:prstGeom>
          <a:solidFill>
            <a:srgbClr val="1A3A5C"/>
          </a:solidFill>
          <a:ln w="12700">
            <a:solidFill>
              <a:srgbClr val="8EAEC6"/>
            </a:solidFill>
            <a:prstDash val="solid"/>
          </a:ln>
        </p:spPr>
      </p:sp>
      <p:sp>
        <p:nvSpPr>
          <p:cNvPr id="7" name="Shape 5"/>
          <p:cNvSpPr/>
          <p:nvPr/>
        </p:nvSpPr>
        <p:spPr>
          <a:xfrm>
            <a:off x="566928" y="1143000"/>
            <a:ext cx="685800" cy="685800"/>
          </a:xfrm>
          <a:prstGeom prst="ellipse">
            <a:avLst/>
          </a:prstGeom>
          <a:solidFill>
            <a:srgbClr val="C0392B"/>
          </a:solidFill>
          <a:ln w="12700">
            <a:solidFill>
              <a:srgbClr val="E74C3C"/>
            </a:solidFill>
            <a:prstDash val="solid"/>
          </a:ln>
        </p:spPr>
      </p:sp>
      <p:sp>
        <p:nvSpPr>
          <p:cNvPr id="8" name="Text 6"/>
          <p:cNvSpPr/>
          <p:nvPr/>
        </p:nvSpPr>
        <p:spPr>
          <a:xfrm>
            <a:off x="566928"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9" name="Text 7"/>
          <p:cNvSpPr/>
          <p:nvPr/>
        </p:nvSpPr>
        <p:spPr>
          <a:xfrm>
            <a:off x="393192"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Data Collection</a:t>
            </a:r>
            <a:endParaRPr lang="en-US" sz="1200" dirty="0"/>
          </a:p>
        </p:txBody>
      </p:sp>
      <p:sp>
        <p:nvSpPr>
          <p:cNvPr id="10" name="Text 8"/>
          <p:cNvSpPr/>
          <p:nvPr/>
        </p:nvSpPr>
        <p:spPr>
          <a:xfrm>
            <a:off x="365760"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NCRB crime dataset</a:t>
            </a:r>
            <a:endParaRPr lang="en-US" sz="1000" dirty="0"/>
          </a:p>
        </p:txBody>
      </p:sp>
      <p:sp>
        <p:nvSpPr>
          <p:cNvPr id="11" name="Shape 9"/>
          <p:cNvSpPr/>
          <p:nvPr/>
        </p:nvSpPr>
        <p:spPr>
          <a:xfrm>
            <a:off x="2935224" y="1664208"/>
            <a:ext cx="274320" cy="64008"/>
          </a:xfrm>
          <a:prstGeom prst="rect">
            <a:avLst/>
          </a:prstGeom>
          <a:solidFill>
            <a:srgbClr val="F39C12"/>
          </a:solidFill>
          <a:ln w="12700">
            <a:solidFill>
              <a:srgbClr val="F39C12"/>
            </a:solidFill>
            <a:prstDash val="solid"/>
          </a:ln>
        </p:spPr>
      </p:sp>
      <p:sp>
        <p:nvSpPr>
          <p:cNvPr id="12" name="Shape 10"/>
          <p:cNvSpPr/>
          <p:nvPr/>
        </p:nvSpPr>
        <p:spPr>
          <a:xfrm>
            <a:off x="1764792" y="1005840"/>
            <a:ext cx="1188720" cy="3657600"/>
          </a:xfrm>
          <a:prstGeom prst="rect">
            <a:avLst/>
          </a:prstGeom>
          <a:solidFill>
            <a:srgbClr val="1A3A5C"/>
          </a:solidFill>
          <a:ln w="12700">
            <a:solidFill>
              <a:srgbClr val="8EAEC6"/>
            </a:solidFill>
            <a:prstDash val="solid"/>
          </a:ln>
        </p:spPr>
      </p:sp>
      <p:sp>
        <p:nvSpPr>
          <p:cNvPr id="13" name="Shape 11"/>
          <p:cNvSpPr/>
          <p:nvPr/>
        </p:nvSpPr>
        <p:spPr>
          <a:xfrm>
            <a:off x="2011680" y="1143000"/>
            <a:ext cx="685800" cy="685800"/>
          </a:xfrm>
          <a:prstGeom prst="ellipse">
            <a:avLst/>
          </a:prstGeom>
          <a:solidFill>
            <a:srgbClr val="C0392B"/>
          </a:solidFill>
          <a:ln w="12700">
            <a:solidFill>
              <a:srgbClr val="E74C3C"/>
            </a:solidFill>
            <a:prstDash val="solid"/>
          </a:ln>
        </p:spPr>
      </p:sp>
      <p:sp>
        <p:nvSpPr>
          <p:cNvPr id="14" name="Text 12"/>
          <p:cNvSpPr/>
          <p:nvPr/>
        </p:nvSpPr>
        <p:spPr>
          <a:xfrm>
            <a:off x="2011680"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5" name="Text 13"/>
          <p:cNvSpPr/>
          <p:nvPr/>
        </p:nvSpPr>
        <p:spPr>
          <a:xfrm>
            <a:off x="1837944"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Preprocessing</a:t>
            </a:r>
            <a:endParaRPr lang="en-US" sz="1200" dirty="0"/>
          </a:p>
        </p:txBody>
      </p:sp>
      <p:sp>
        <p:nvSpPr>
          <p:cNvPr id="16" name="Text 14"/>
          <p:cNvSpPr/>
          <p:nvPr/>
        </p:nvSpPr>
        <p:spPr>
          <a:xfrm>
            <a:off x="1810512"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Cleaning, missing values</a:t>
            </a:r>
            <a:endParaRPr lang="en-US" sz="1000" dirty="0"/>
          </a:p>
        </p:txBody>
      </p:sp>
      <p:sp>
        <p:nvSpPr>
          <p:cNvPr id="17" name="Shape 15"/>
          <p:cNvSpPr/>
          <p:nvPr/>
        </p:nvSpPr>
        <p:spPr>
          <a:xfrm>
            <a:off x="4379976" y="1664208"/>
            <a:ext cx="274320" cy="64008"/>
          </a:xfrm>
          <a:prstGeom prst="rect">
            <a:avLst/>
          </a:prstGeom>
          <a:solidFill>
            <a:srgbClr val="F39C12"/>
          </a:solidFill>
          <a:ln w="12700">
            <a:solidFill>
              <a:srgbClr val="F39C12"/>
            </a:solidFill>
            <a:prstDash val="solid"/>
          </a:ln>
        </p:spPr>
      </p:sp>
      <p:sp>
        <p:nvSpPr>
          <p:cNvPr id="18" name="Shape 16"/>
          <p:cNvSpPr/>
          <p:nvPr/>
        </p:nvSpPr>
        <p:spPr>
          <a:xfrm>
            <a:off x="3209544" y="1005840"/>
            <a:ext cx="1188720" cy="3657600"/>
          </a:xfrm>
          <a:prstGeom prst="rect">
            <a:avLst/>
          </a:prstGeom>
          <a:solidFill>
            <a:srgbClr val="1A3A5C"/>
          </a:solidFill>
          <a:ln w="12700">
            <a:solidFill>
              <a:srgbClr val="8EAEC6"/>
            </a:solidFill>
            <a:prstDash val="solid"/>
          </a:ln>
        </p:spPr>
      </p:sp>
      <p:sp>
        <p:nvSpPr>
          <p:cNvPr id="19" name="Shape 17"/>
          <p:cNvSpPr/>
          <p:nvPr/>
        </p:nvSpPr>
        <p:spPr>
          <a:xfrm>
            <a:off x="3456432" y="1143000"/>
            <a:ext cx="685800" cy="685800"/>
          </a:xfrm>
          <a:prstGeom prst="ellipse">
            <a:avLst/>
          </a:prstGeom>
          <a:solidFill>
            <a:srgbClr val="C0392B"/>
          </a:solidFill>
          <a:ln w="12700">
            <a:solidFill>
              <a:srgbClr val="E74C3C"/>
            </a:solidFill>
            <a:prstDash val="solid"/>
          </a:ln>
        </p:spPr>
      </p:sp>
      <p:sp>
        <p:nvSpPr>
          <p:cNvPr id="20" name="Text 18"/>
          <p:cNvSpPr/>
          <p:nvPr/>
        </p:nvSpPr>
        <p:spPr>
          <a:xfrm>
            <a:off x="3456432"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21" name="Text 19"/>
          <p:cNvSpPr/>
          <p:nvPr/>
        </p:nvSpPr>
        <p:spPr>
          <a:xfrm>
            <a:off x="3282696"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EDA</a:t>
            </a:r>
            <a:endParaRPr lang="en-US" sz="1200" dirty="0"/>
          </a:p>
        </p:txBody>
      </p:sp>
      <p:sp>
        <p:nvSpPr>
          <p:cNvPr id="22" name="Text 20"/>
          <p:cNvSpPr/>
          <p:nvPr/>
        </p:nvSpPr>
        <p:spPr>
          <a:xfrm>
            <a:off x="3255264"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Trend plots, state comparison</a:t>
            </a:r>
            <a:endParaRPr lang="en-US" sz="1000" dirty="0"/>
          </a:p>
        </p:txBody>
      </p:sp>
      <p:sp>
        <p:nvSpPr>
          <p:cNvPr id="23" name="Shape 21"/>
          <p:cNvSpPr/>
          <p:nvPr/>
        </p:nvSpPr>
        <p:spPr>
          <a:xfrm>
            <a:off x="5824728" y="1664208"/>
            <a:ext cx="274320" cy="64008"/>
          </a:xfrm>
          <a:prstGeom prst="rect">
            <a:avLst/>
          </a:prstGeom>
          <a:solidFill>
            <a:srgbClr val="F39C12"/>
          </a:solidFill>
          <a:ln w="12700">
            <a:solidFill>
              <a:srgbClr val="F39C12"/>
            </a:solidFill>
            <a:prstDash val="solid"/>
          </a:ln>
        </p:spPr>
      </p:sp>
      <p:sp>
        <p:nvSpPr>
          <p:cNvPr id="24" name="Shape 22"/>
          <p:cNvSpPr/>
          <p:nvPr/>
        </p:nvSpPr>
        <p:spPr>
          <a:xfrm>
            <a:off x="4654296" y="1005840"/>
            <a:ext cx="1188720" cy="3657600"/>
          </a:xfrm>
          <a:prstGeom prst="rect">
            <a:avLst/>
          </a:prstGeom>
          <a:solidFill>
            <a:srgbClr val="1A3A5C"/>
          </a:solidFill>
          <a:ln w="12700">
            <a:solidFill>
              <a:srgbClr val="8EAEC6"/>
            </a:solidFill>
            <a:prstDash val="solid"/>
          </a:ln>
        </p:spPr>
      </p:sp>
      <p:sp>
        <p:nvSpPr>
          <p:cNvPr id="25" name="Shape 23"/>
          <p:cNvSpPr/>
          <p:nvPr/>
        </p:nvSpPr>
        <p:spPr>
          <a:xfrm>
            <a:off x="4901184" y="1143000"/>
            <a:ext cx="685800" cy="685800"/>
          </a:xfrm>
          <a:prstGeom prst="ellipse">
            <a:avLst/>
          </a:prstGeom>
          <a:solidFill>
            <a:srgbClr val="C0392B"/>
          </a:solidFill>
          <a:ln w="12700">
            <a:solidFill>
              <a:srgbClr val="E74C3C"/>
            </a:solidFill>
            <a:prstDash val="solid"/>
          </a:ln>
        </p:spPr>
      </p:sp>
      <p:sp>
        <p:nvSpPr>
          <p:cNvPr id="26" name="Text 24"/>
          <p:cNvSpPr/>
          <p:nvPr/>
        </p:nvSpPr>
        <p:spPr>
          <a:xfrm>
            <a:off x="4901184"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27" name="Text 25"/>
          <p:cNvSpPr/>
          <p:nvPr/>
        </p:nvSpPr>
        <p:spPr>
          <a:xfrm>
            <a:off x="4727448"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Model Building</a:t>
            </a:r>
            <a:endParaRPr lang="en-US" sz="1200" dirty="0"/>
          </a:p>
        </p:txBody>
      </p:sp>
      <p:sp>
        <p:nvSpPr>
          <p:cNvPr id="28" name="Text 26"/>
          <p:cNvSpPr/>
          <p:nvPr/>
        </p:nvSpPr>
        <p:spPr>
          <a:xfrm>
            <a:off x="4700016"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Linear Regression</a:t>
            </a:r>
            <a:endParaRPr lang="en-US" sz="1000" dirty="0"/>
          </a:p>
        </p:txBody>
      </p:sp>
      <p:sp>
        <p:nvSpPr>
          <p:cNvPr id="29" name="Shape 27"/>
          <p:cNvSpPr/>
          <p:nvPr/>
        </p:nvSpPr>
        <p:spPr>
          <a:xfrm>
            <a:off x="7269480" y="1664208"/>
            <a:ext cx="274320" cy="64008"/>
          </a:xfrm>
          <a:prstGeom prst="rect">
            <a:avLst/>
          </a:prstGeom>
          <a:solidFill>
            <a:srgbClr val="F39C12"/>
          </a:solidFill>
          <a:ln w="12700">
            <a:solidFill>
              <a:srgbClr val="F39C12"/>
            </a:solidFill>
            <a:prstDash val="solid"/>
          </a:ln>
        </p:spPr>
      </p:sp>
      <p:sp>
        <p:nvSpPr>
          <p:cNvPr id="30" name="Shape 28"/>
          <p:cNvSpPr/>
          <p:nvPr/>
        </p:nvSpPr>
        <p:spPr>
          <a:xfrm>
            <a:off x="6099048" y="1005840"/>
            <a:ext cx="1188720" cy="3657600"/>
          </a:xfrm>
          <a:prstGeom prst="rect">
            <a:avLst/>
          </a:prstGeom>
          <a:solidFill>
            <a:srgbClr val="1A3A5C"/>
          </a:solidFill>
          <a:ln w="12700">
            <a:solidFill>
              <a:srgbClr val="8EAEC6"/>
            </a:solidFill>
            <a:prstDash val="solid"/>
          </a:ln>
        </p:spPr>
      </p:sp>
      <p:sp>
        <p:nvSpPr>
          <p:cNvPr id="31" name="Shape 29"/>
          <p:cNvSpPr/>
          <p:nvPr/>
        </p:nvSpPr>
        <p:spPr>
          <a:xfrm>
            <a:off x="6345936" y="1143000"/>
            <a:ext cx="685800" cy="685800"/>
          </a:xfrm>
          <a:prstGeom prst="ellipse">
            <a:avLst/>
          </a:prstGeom>
          <a:solidFill>
            <a:srgbClr val="C0392B"/>
          </a:solidFill>
          <a:ln w="12700">
            <a:solidFill>
              <a:srgbClr val="E74C3C"/>
            </a:solidFill>
            <a:prstDash val="solid"/>
          </a:ln>
        </p:spPr>
      </p:sp>
      <p:sp>
        <p:nvSpPr>
          <p:cNvPr id="32" name="Text 30"/>
          <p:cNvSpPr/>
          <p:nvPr/>
        </p:nvSpPr>
        <p:spPr>
          <a:xfrm>
            <a:off x="6345936"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5</a:t>
            </a:r>
            <a:endParaRPr lang="en-US" sz="2000" dirty="0"/>
          </a:p>
        </p:txBody>
      </p:sp>
      <p:sp>
        <p:nvSpPr>
          <p:cNvPr id="33" name="Text 31"/>
          <p:cNvSpPr/>
          <p:nvPr/>
        </p:nvSpPr>
        <p:spPr>
          <a:xfrm>
            <a:off x="6172200"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Prediction</a:t>
            </a:r>
            <a:endParaRPr lang="en-US" sz="1200" dirty="0"/>
          </a:p>
        </p:txBody>
      </p:sp>
      <p:sp>
        <p:nvSpPr>
          <p:cNvPr id="34" name="Text 32"/>
          <p:cNvSpPr/>
          <p:nvPr/>
        </p:nvSpPr>
        <p:spPr>
          <a:xfrm>
            <a:off x="6144768"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Future crime rates</a:t>
            </a:r>
            <a:endParaRPr lang="en-US" sz="1000" dirty="0"/>
          </a:p>
        </p:txBody>
      </p:sp>
      <p:sp>
        <p:nvSpPr>
          <p:cNvPr id="35" name="Shape 33"/>
          <p:cNvSpPr/>
          <p:nvPr/>
        </p:nvSpPr>
        <p:spPr>
          <a:xfrm>
            <a:off x="7543800" y="1005840"/>
            <a:ext cx="1188720" cy="3657600"/>
          </a:xfrm>
          <a:prstGeom prst="rect">
            <a:avLst/>
          </a:prstGeom>
          <a:solidFill>
            <a:srgbClr val="1A3A5C"/>
          </a:solidFill>
          <a:ln w="12700">
            <a:solidFill>
              <a:srgbClr val="8EAEC6"/>
            </a:solidFill>
            <a:prstDash val="solid"/>
          </a:ln>
        </p:spPr>
      </p:sp>
      <p:sp>
        <p:nvSpPr>
          <p:cNvPr id="36" name="Shape 34"/>
          <p:cNvSpPr/>
          <p:nvPr/>
        </p:nvSpPr>
        <p:spPr>
          <a:xfrm>
            <a:off x="7790688" y="1143000"/>
            <a:ext cx="685800" cy="685800"/>
          </a:xfrm>
          <a:prstGeom prst="ellipse">
            <a:avLst/>
          </a:prstGeom>
          <a:solidFill>
            <a:srgbClr val="C0392B"/>
          </a:solidFill>
          <a:ln w="12700">
            <a:solidFill>
              <a:srgbClr val="E74C3C"/>
            </a:solidFill>
            <a:prstDash val="solid"/>
          </a:ln>
        </p:spPr>
      </p:sp>
      <p:sp>
        <p:nvSpPr>
          <p:cNvPr id="37" name="Text 35"/>
          <p:cNvSpPr/>
          <p:nvPr/>
        </p:nvSpPr>
        <p:spPr>
          <a:xfrm>
            <a:off x="7790688" y="114300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rPr>
              <a:t>6</a:t>
            </a:r>
            <a:endParaRPr lang="en-US" sz="2000" dirty="0"/>
          </a:p>
        </p:txBody>
      </p:sp>
      <p:sp>
        <p:nvSpPr>
          <p:cNvPr id="38" name="Text 36"/>
          <p:cNvSpPr/>
          <p:nvPr/>
        </p:nvSpPr>
        <p:spPr>
          <a:xfrm>
            <a:off x="7616952" y="2011680"/>
            <a:ext cx="1051560" cy="640080"/>
          </a:xfrm>
          <a:prstGeom prst="rect">
            <a:avLst/>
          </a:prstGeom>
          <a:noFill/>
          <a:ln/>
        </p:spPr>
        <p:txBody>
          <a:bodyPr wrap="square" lIns="0" tIns="0" rIns="0" bIns="0" rtlCol="0" anchor="ctr"/>
          <a:lstStyle/>
          <a:p>
            <a:pPr marL="0" indent="0" algn="ctr">
              <a:buNone/>
            </a:pPr>
            <a:r>
              <a:rPr lang="en-US" sz="1200" b="1" dirty="0">
                <a:solidFill>
                  <a:srgbClr val="F39C12"/>
                </a:solidFill>
              </a:rPr>
              <a:t>Evaluation</a:t>
            </a:r>
            <a:endParaRPr lang="en-US" sz="1200" dirty="0"/>
          </a:p>
        </p:txBody>
      </p:sp>
      <p:sp>
        <p:nvSpPr>
          <p:cNvPr id="39" name="Text 37"/>
          <p:cNvSpPr/>
          <p:nvPr/>
        </p:nvSpPr>
        <p:spPr>
          <a:xfrm>
            <a:off x="7589520" y="2697480"/>
            <a:ext cx="1097280" cy="1737360"/>
          </a:xfrm>
          <a:prstGeom prst="rect">
            <a:avLst/>
          </a:prstGeom>
          <a:noFill/>
          <a:ln/>
        </p:spPr>
        <p:txBody>
          <a:bodyPr wrap="square" lIns="0" tIns="0" rIns="0" bIns="0" rtlCol="0" anchor="ctr"/>
          <a:lstStyle/>
          <a:p>
            <a:pPr marL="0" indent="0" algn="ctr">
              <a:buNone/>
            </a:pPr>
            <a:r>
              <a:rPr lang="en-US" sz="1000" dirty="0">
                <a:solidFill>
                  <a:srgbClr val="D6E4F0"/>
                </a:solidFill>
              </a:rPr>
              <a:t>R² Score, Error metrics</a:t>
            </a:r>
            <a:endParaRPr lang="en-US" sz="1000" dirty="0"/>
          </a:p>
        </p:txBody>
      </p:sp>
      <p:sp>
        <p:nvSpPr>
          <p:cNvPr id="40" name="Text 38"/>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TOOLS &amp; TECHNOLOGIES</a:t>
            </a:r>
            <a:endParaRPr lang="en-US" sz="2600" dirty="0"/>
          </a:p>
        </p:txBody>
      </p:sp>
      <p:sp>
        <p:nvSpPr>
          <p:cNvPr id="5" name="Shape 3"/>
          <p:cNvSpPr/>
          <p:nvPr/>
        </p:nvSpPr>
        <p:spPr>
          <a:xfrm>
            <a:off x="365760" y="1051560"/>
            <a:ext cx="2606040" cy="1737360"/>
          </a:xfrm>
          <a:prstGeom prst="rect">
            <a:avLst/>
          </a:prstGeom>
          <a:solidFill>
            <a:srgbClr val="1A3A5C"/>
          </a:solidFill>
          <a:ln/>
          <a:effectLst>
            <a:outerShdw blurRad="76200" dist="38100" dir="8100000" algn="bl" rotWithShape="0">
              <a:srgbClr val="000000">
                <a:alpha val="15000"/>
              </a:srgbClr>
            </a:outerShdw>
          </a:effectLst>
        </p:spPr>
      </p:sp>
      <p:sp>
        <p:nvSpPr>
          <p:cNvPr id="6" name="Text 4"/>
          <p:cNvSpPr/>
          <p:nvPr/>
        </p:nvSpPr>
        <p:spPr>
          <a:xfrm>
            <a:off x="502920" y="1216152"/>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7" name="Text 5"/>
          <p:cNvSpPr/>
          <p:nvPr/>
        </p:nvSpPr>
        <p:spPr>
          <a:xfrm>
            <a:off x="457200" y="1947672"/>
            <a:ext cx="2423160" cy="347472"/>
          </a:xfrm>
          <a:prstGeom prst="rect">
            <a:avLst/>
          </a:prstGeom>
          <a:noFill/>
          <a:ln/>
        </p:spPr>
        <p:txBody>
          <a:bodyPr wrap="square" lIns="0" tIns="0" rIns="0" bIns="0" rtlCol="0" anchor="ctr"/>
          <a:lstStyle/>
          <a:p>
            <a:pPr marL="0" indent="0">
              <a:buNone/>
            </a:pPr>
            <a:r>
              <a:rPr lang="en-US" sz="1100" dirty="0">
                <a:solidFill>
                  <a:srgbClr val="D6E4F0"/>
                </a:solidFill>
              </a:rPr>
              <a:t>Language</a:t>
            </a:r>
            <a:endParaRPr lang="en-US" sz="1100" dirty="0"/>
          </a:p>
        </p:txBody>
      </p:sp>
      <p:sp>
        <p:nvSpPr>
          <p:cNvPr id="8" name="Text 6"/>
          <p:cNvSpPr/>
          <p:nvPr/>
        </p:nvSpPr>
        <p:spPr>
          <a:xfrm>
            <a:off x="457200" y="2258568"/>
            <a:ext cx="2423160" cy="438912"/>
          </a:xfrm>
          <a:prstGeom prst="rect">
            <a:avLst/>
          </a:prstGeom>
          <a:noFill/>
          <a:ln/>
        </p:spPr>
        <p:txBody>
          <a:bodyPr wrap="square" lIns="0" tIns="0" rIns="0" bIns="0" rtlCol="0" anchor="ctr"/>
          <a:lstStyle/>
          <a:p>
            <a:pPr marL="0" indent="0">
              <a:buNone/>
            </a:pPr>
            <a:r>
              <a:rPr lang="en-US" sz="1300" b="1" dirty="0">
                <a:solidFill>
                  <a:srgbClr val="FFFFFF"/>
                </a:solidFill>
              </a:rPr>
              <a:t>Python</a:t>
            </a:r>
            <a:endParaRPr lang="en-US" sz="1300" dirty="0"/>
          </a:p>
        </p:txBody>
      </p:sp>
      <p:sp>
        <p:nvSpPr>
          <p:cNvPr id="9" name="Shape 7"/>
          <p:cNvSpPr/>
          <p:nvPr/>
        </p:nvSpPr>
        <p:spPr>
          <a:xfrm>
            <a:off x="3200400" y="1051560"/>
            <a:ext cx="2606040" cy="1737360"/>
          </a:xfrm>
          <a:prstGeom prst="rect">
            <a:avLst/>
          </a:prstGeom>
          <a:solidFill>
            <a:srgbClr val="1A5276"/>
          </a:solidFill>
          <a:ln/>
          <a:effectLst>
            <a:outerShdw blurRad="76200" dist="38100" dir="8100000" algn="bl" rotWithShape="0">
              <a:srgbClr val="000000">
                <a:alpha val="15000"/>
              </a:srgbClr>
            </a:outerShdw>
          </a:effectLst>
        </p:spPr>
      </p:sp>
      <p:sp>
        <p:nvSpPr>
          <p:cNvPr id="10" name="Text 8"/>
          <p:cNvSpPr/>
          <p:nvPr/>
        </p:nvSpPr>
        <p:spPr>
          <a:xfrm>
            <a:off x="3337560" y="1216152"/>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1" name="Text 9"/>
          <p:cNvSpPr/>
          <p:nvPr/>
        </p:nvSpPr>
        <p:spPr>
          <a:xfrm>
            <a:off x="3291840" y="1947672"/>
            <a:ext cx="2423160" cy="347472"/>
          </a:xfrm>
          <a:prstGeom prst="rect">
            <a:avLst/>
          </a:prstGeom>
          <a:noFill/>
          <a:ln/>
        </p:spPr>
        <p:txBody>
          <a:bodyPr wrap="square" lIns="0" tIns="0" rIns="0" bIns="0" rtlCol="0" anchor="ctr"/>
          <a:lstStyle/>
          <a:p>
            <a:pPr marL="0" indent="0">
              <a:buNone/>
            </a:pPr>
            <a:r>
              <a:rPr lang="en-US" sz="1100" dirty="0">
                <a:solidFill>
                  <a:srgbClr val="D6E4F0"/>
                </a:solidFill>
              </a:rPr>
              <a:t>Libraries</a:t>
            </a:r>
            <a:endParaRPr lang="en-US" sz="1100" dirty="0"/>
          </a:p>
        </p:txBody>
      </p:sp>
      <p:sp>
        <p:nvSpPr>
          <p:cNvPr id="12" name="Text 10"/>
          <p:cNvSpPr/>
          <p:nvPr/>
        </p:nvSpPr>
        <p:spPr>
          <a:xfrm>
            <a:off x="3291840" y="2258568"/>
            <a:ext cx="2423160" cy="438912"/>
          </a:xfrm>
          <a:prstGeom prst="rect">
            <a:avLst/>
          </a:prstGeom>
          <a:noFill/>
          <a:ln/>
        </p:spPr>
        <p:txBody>
          <a:bodyPr wrap="square" lIns="0" tIns="0" rIns="0" bIns="0" rtlCol="0" anchor="ctr"/>
          <a:lstStyle/>
          <a:p>
            <a:pPr marL="0" indent="0">
              <a:buNone/>
            </a:pPr>
            <a:r>
              <a:rPr lang="en-US" sz="1300" b="1" dirty="0">
                <a:solidFill>
                  <a:srgbClr val="FFFFFF"/>
                </a:solidFill>
              </a:rPr>
              <a:t>Pandas, NumPy</a:t>
            </a:r>
            <a:endParaRPr lang="en-US" sz="1300" dirty="0"/>
          </a:p>
        </p:txBody>
      </p:sp>
      <p:sp>
        <p:nvSpPr>
          <p:cNvPr id="13" name="Shape 11"/>
          <p:cNvSpPr/>
          <p:nvPr/>
        </p:nvSpPr>
        <p:spPr>
          <a:xfrm>
            <a:off x="6035040" y="1051560"/>
            <a:ext cx="2606040" cy="1737360"/>
          </a:xfrm>
          <a:prstGeom prst="rect">
            <a:avLst/>
          </a:prstGeom>
          <a:solidFill>
            <a:srgbClr val="1B4F72"/>
          </a:solidFill>
          <a:ln/>
          <a:effectLst>
            <a:outerShdw blurRad="76200" dist="38100" dir="8100000" algn="bl" rotWithShape="0">
              <a:srgbClr val="000000">
                <a:alpha val="15000"/>
              </a:srgbClr>
            </a:outerShdw>
          </a:effectLst>
        </p:spPr>
      </p:sp>
      <p:sp>
        <p:nvSpPr>
          <p:cNvPr id="14" name="Text 12"/>
          <p:cNvSpPr/>
          <p:nvPr/>
        </p:nvSpPr>
        <p:spPr>
          <a:xfrm>
            <a:off x="6172200" y="1216152"/>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5" name="Text 13"/>
          <p:cNvSpPr/>
          <p:nvPr/>
        </p:nvSpPr>
        <p:spPr>
          <a:xfrm>
            <a:off x="6126480" y="1947672"/>
            <a:ext cx="2423160" cy="347472"/>
          </a:xfrm>
          <a:prstGeom prst="rect">
            <a:avLst/>
          </a:prstGeom>
          <a:noFill/>
          <a:ln/>
        </p:spPr>
        <p:txBody>
          <a:bodyPr wrap="square" lIns="0" tIns="0" rIns="0" bIns="0" rtlCol="0" anchor="ctr"/>
          <a:lstStyle/>
          <a:p>
            <a:pPr marL="0" indent="0">
              <a:buNone/>
            </a:pPr>
            <a:r>
              <a:rPr lang="en-US" sz="1100" dirty="0">
                <a:solidFill>
                  <a:srgbClr val="D6E4F0"/>
                </a:solidFill>
              </a:rPr>
              <a:t>Visualization</a:t>
            </a:r>
            <a:endParaRPr lang="en-US" sz="1100" dirty="0"/>
          </a:p>
        </p:txBody>
      </p:sp>
      <p:sp>
        <p:nvSpPr>
          <p:cNvPr id="16" name="Text 14"/>
          <p:cNvSpPr/>
          <p:nvPr/>
        </p:nvSpPr>
        <p:spPr>
          <a:xfrm>
            <a:off x="6126480" y="2258568"/>
            <a:ext cx="2423160" cy="438912"/>
          </a:xfrm>
          <a:prstGeom prst="rect">
            <a:avLst/>
          </a:prstGeom>
          <a:noFill/>
          <a:ln/>
        </p:spPr>
        <p:txBody>
          <a:bodyPr wrap="square" lIns="0" tIns="0" rIns="0" bIns="0" rtlCol="0" anchor="ctr"/>
          <a:lstStyle/>
          <a:p>
            <a:pPr marL="0" indent="0">
              <a:buNone/>
            </a:pPr>
            <a:r>
              <a:rPr lang="en-US" sz="1300" b="1" dirty="0">
                <a:solidFill>
                  <a:srgbClr val="FFFFFF"/>
                </a:solidFill>
              </a:rPr>
              <a:t>Matplotlib</a:t>
            </a:r>
            <a:endParaRPr lang="en-US" sz="1300" dirty="0"/>
          </a:p>
          <a:p>
            <a:pPr marL="0" indent="0">
              <a:buNone/>
            </a:pPr>
            <a:r>
              <a:rPr lang="en-US" sz="1300" b="1" dirty="0">
                <a:solidFill>
                  <a:srgbClr val="FFFFFF"/>
                </a:solidFill>
              </a:rPr>
              <a:t>Seaborn</a:t>
            </a:r>
            <a:endParaRPr lang="en-US" sz="1300" dirty="0"/>
          </a:p>
        </p:txBody>
      </p:sp>
      <p:sp>
        <p:nvSpPr>
          <p:cNvPr id="17" name="Shape 15"/>
          <p:cNvSpPr/>
          <p:nvPr/>
        </p:nvSpPr>
        <p:spPr>
          <a:xfrm>
            <a:off x="365760" y="3017520"/>
            <a:ext cx="2606040" cy="1737360"/>
          </a:xfrm>
          <a:prstGeom prst="rect">
            <a:avLst/>
          </a:prstGeom>
          <a:solidFill>
            <a:srgbClr val="C0392B"/>
          </a:solidFill>
          <a:ln/>
          <a:effectLst>
            <a:outerShdw blurRad="76200" dist="38100" dir="8100000" algn="bl" rotWithShape="0">
              <a:srgbClr val="000000">
                <a:alpha val="15000"/>
              </a:srgbClr>
            </a:outerShdw>
          </a:effectLst>
        </p:spPr>
      </p:sp>
      <p:sp>
        <p:nvSpPr>
          <p:cNvPr id="18" name="Text 16"/>
          <p:cNvSpPr/>
          <p:nvPr/>
        </p:nvSpPr>
        <p:spPr>
          <a:xfrm>
            <a:off x="502920" y="3182112"/>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9" name="Text 17"/>
          <p:cNvSpPr/>
          <p:nvPr/>
        </p:nvSpPr>
        <p:spPr>
          <a:xfrm>
            <a:off x="457200" y="3913632"/>
            <a:ext cx="2423160" cy="347472"/>
          </a:xfrm>
          <a:prstGeom prst="rect">
            <a:avLst/>
          </a:prstGeom>
          <a:noFill/>
          <a:ln/>
        </p:spPr>
        <p:txBody>
          <a:bodyPr wrap="square" lIns="0" tIns="0" rIns="0" bIns="0" rtlCol="0" anchor="ctr"/>
          <a:lstStyle/>
          <a:p>
            <a:pPr marL="0" indent="0">
              <a:buNone/>
            </a:pPr>
            <a:r>
              <a:rPr lang="en-US" sz="1100" dirty="0">
                <a:solidFill>
                  <a:srgbClr val="D6E4F0"/>
                </a:solidFill>
              </a:rPr>
              <a:t>ML Model</a:t>
            </a:r>
            <a:endParaRPr lang="en-US" sz="1100" dirty="0"/>
          </a:p>
        </p:txBody>
      </p:sp>
      <p:sp>
        <p:nvSpPr>
          <p:cNvPr id="20" name="Text 18"/>
          <p:cNvSpPr/>
          <p:nvPr/>
        </p:nvSpPr>
        <p:spPr>
          <a:xfrm>
            <a:off x="457200" y="4224528"/>
            <a:ext cx="2423160" cy="438912"/>
          </a:xfrm>
          <a:prstGeom prst="rect">
            <a:avLst/>
          </a:prstGeom>
          <a:noFill/>
          <a:ln/>
        </p:spPr>
        <p:txBody>
          <a:bodyPr wrap="square" lIns="0" tIns="0" rIns="0" bIns="0" rtlCol="0" anchor="ctr"/>
          <a:lstStyle/>
          <a:p>
            <a:pPr marL="0" indent="0">
              <a:buNone/>
            </a:pPr>
            <a:r>
              <a:rPr lang="en-US" sz="1300" b="1" dirty="0">
                <a:solidFill>
                  <a:srgbClr val="FFFFFF"/>
                </a:solidFill>
              </a:rPr>
              <a:t>Scikit-learn</a:t>
            </a:r>
            <a:endParaRPr lang="en-US" sz="1300" dirty="0"/>
          </a:p>
          <a:p>
            <a:pPr marL="0" indent="0">
              <a:buNone/>
            </a:pPr>
            <a:r>
              <a:rPr lang="en-US" sz="1300" b="1" dirty="0">
                <a:solidFill>
                  <a:srgbClr val="FFFFFF"/>
                </a:solidFill>
              </a:rPr>
              <a:t>(Linear Regression)</a:t>
            </a:r>
            <a:endParaRPr lang="en-US" sz="1300" dirty="0"/>
          </a:p>
        </p:txBody>
      </p:sp>
      <p:sp>
        <p:nvSpPr>
          <p:cNvPr id="21" name="Shape 19"/>
          <p:cNvSpPr/>
          <p:nvPr/>
        </p:nvSpPr>
        <p:spPr>
          <a:xfrm>
            <a:off x="3200400" y="3017520"/>
            <a:ext cx="2606040" cy="1737360"/>
          </a:xfrm>
          <a:prstGeom prst="rect">
            <a:avLst/>
          </a:prstGeom>
          <a:solidFill>
            <a:srgbClr val="4A6277"/>
          </a:solidFill>
          <a:ln/>
          <a:effectLst>
            <a:outerShdw blurRad="76200" dist="38100" dir="8100000" algn="bl" rotWithShape="0">
              <a:srgbClr val="000000">
                <a:alpha val="15000"/>
              </a:srgbClr>
            </a:outerShdw>
          </a:effectLst>
        </p:spPr>
      </p:sp>
      <p:sp>
        <p:nvSpPr>
          <p:cNvPr id="22" name="Text 20"/>
          <p:cNvSpPr/>
          <p:nvPr/>
        </p:nvSpPr>
        <p:spPr>
          <a:xfrm>
            <a:off x="3337560" y="3182112"/>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3" name="Text 21"/>
          <p:cNvSpPr/>
          <p:nvPr/>
        </p:nvSpPr>
        <p:spPr>
          <a:xfrm>
            <a:off x="3291840" y="3913632"/>
            <a:ext cx="2423160" cy="347472"/>
          </a:xfrm>
          <a:prstGeom prst="rect">
            <a:avLst/>
          </a:prstGeom>
          <a:noFill/>
          <a:ln/>
        </p:spPr>
        <p:txBody>
          <a:bodyPr wrap="square" lIns="0" tIns="0" rIns="0" bIns="0" rtlCol="0" anchor="ctr"/>
          <a:lstStyle/>
          <a:p>
            <a:pPr marL="0" indent="0">
              <a:buNone/>
            </a:pPr>
            <a:r>
              <a:rPr lang="en-US" sz="1100" dirty="0">
                <a:solidFill>
                  <a:srgbClr val="D6E4F0"/>
                </a:solidFill>
              </a:rPr>
              <a:t>Environment</a:t>
            </a:r>
            <a:endParaRPr lang="en-US" sz="1100" dirty="0"/>
          </a:p>
        </p:txBody>
      </p:sp>
      <p:sp>
        <p:nvSpPr>
          <p:cNvPr id="24" name="Text 22"/>
          <p:cNvSpPr/>
          <p:nvPr/>
        </p:nvSpPr>
        <p:spPr>
          <a:xfrm>
            <a:off x="3291840" y="4224528"/>
            <a:ext cx="2423160" cy="438912"/>
          </a:xfrm>
          <a:prstGeom prst="rect">
            <a:avLst/>
          </a:prstGeom>
          <a:noFill/>
          <a:ln/>
        </p:spPr>
        <p:txBody>
          <a:bodyPr wrap="square" lIns="0" tIns="0" rIns="0" bIns="0" rtlCol="0" anchor="ctr"/>
          <a:lstStyle/>
          <a:p>
            <a:pPr marL="0" indent="0">
              <a:buNone/>
            </a:pPr>
            <a:r>
              <a:rPr lang="en-US" sz="1300" b="1" dirty="0">
                <a:solidFill>
                  <a:srgbClr val="FFFFFF"/>
                </a:solidFill>
              </a:rPr>
              <a:t>Jupyter Notebook</a:t>
            </a:r>
            <a:endParaRPr lang="en-US" sz="1300" dirty="0"/>
          </a:p>
        </p:txBody>
      </p:sp>
      <p:sp>
        <p:nvSpPr>
          <p:cNvPr id="25" name="Text 23"/>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DATASET OVERVIEW</a:t>
            </a:r>
            <a:endParaRPr lang="en-US" sz="2600" dirty="0"/>
          </a:p>
        </p:txBody>
      </p:sp>
      <p:sp>
        <p:nvSpPr>
          <p:cNvPr id="5" name="Shape 3"/>
          <p:cNvSpPr/>
          <p:nvPr/>
        </p:nvSpPr>
        <p:spPr>
          <a:xfrm>
            <a:off x="365760" y="1005840"/>
            <a:ext cx="8412480" cy="731520"/>
          </a:xfrm>
          <a:prstGeom prst="rect">
            <a:avLst/>
          </a:prstGeom>
          <a:solidFill>
            <a:srgbClr val="0D1B2A"/>
          </a:solidFill>
          <a:ln/>
          <a:effectLst>
            <a:outerShdw blurRad="63500" dist="25400" dir="8100000" algn="bl" rotWithShape="0">
              <a:srgbClr val="000000">
                <a:alpha val="10000"/>
              </a:srgbClr>
            </a:outerShdw>
          </a:effectLst>
        </p:spPr>
      </p:sp>
      <p:sp>
        <p:nvSpPr>
          <p:cNvPr id="6" name="Text 4"/>
          <p:cNvSpPr/>
          <p:nvPr/>
        </p:nvSpPr>
        <p:spPr>
          <a:xfrm>
            <a:off x="502920" y="1051560"/>
            <a:ext cx="640080" cy="64008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7" name="Text 5"/>
          <p:cNvSpPr/>
          <p:nvPr/>
        </p:nvSpPr>
        <p:spPr>
          <a:xfrm>
            <a:off x="1188720" y="1005840"/>
            <a:ext cx="7406640" cy="731520"/>
          </a:xfrm>
          <a:prstGeom prst="rect">
            <a:avLst/>
          </a:prstGeom>
          <a:noFill/>
          <a:ln/>
        </p:spPr>
        <p:txBody>
          <a:bodyPr wrap="square" lIns="0" tIns="0" rIns="0" bIns="0" rtlCol="0" anchor="ctr"/>
          <a:lstStyle/>
          <a:p>
            <a:pPr marL="0" indent="0">
              <a:buNone/>
            </a:pPr>
            <a:r>
              <a:rPr lang="en-US" sz="1500" b="1" dirty="0">
                <a:solidFill>
                  <a:srgbClr val="FFFFFF"/>
                </a:solidFill>
              </a:rPr>
              <a:t>Source: NCRB — National Crime Records Bureau (Crime Data in India)</a:t>
            </a:r>
            <a:endParaRPr lang="en-US" sz="1500" dirty="0"/>
          </a:p>
        </p:txBody>
      </p:sp>
      <p:sp>
        <p:nvSpPr>
          <p:cNvPr id="8" name="Text 6"/>
          <p:cNvSpPr/>
          <p:nvPr/>
        </p:nvSpPr>
        <p:spPr>
          <a:xfrm>
            <a:off x="365760" y="1920240"/>
            <a:ext cx="8412480" cy="365760"/>
          </a:xfrm>
          <a:prstGeom prst="rect">
            <a:avLst/>
          </a:prstGeom>
          <a:noFill/>
          <a:ln/>
        </p:spPr>
        <p:txBody>
          <a:bodyPr wrap="square" lIns="0" tIns="0" rIns="0" bIns="0" rtlCol="0" anchor="ctr"/>
          <a:lstStyle/>
          <a:p>
            <a:pPr marL="0" indent="0">
              <a:buNone/>
            </a:pPr>
            <a:r>
              <a:rPr lang="en-US" sz="1300" b="1" dirty="0">
                <a:solidFill>
                  <a:srgbClr val="4A6277"/>
                </a:solidFill>
              </a:rPr>
              <a:t>KEY FEATURES</a:t>
            </a:r>
            <a:endParaRPr lang="en-US" sz="1300" dirty="0"/>
          </a:p>
        </p:txBody>
      </p:sp>
      <p:sp>
        <p:nvSpPr>
          <p:cNvPr id="9" name="Shape 7"/>
          <p:cNvSpPr/>
          <p:nvPr/>
        </p:nvSpPr>
        <p:spPr>
          <a:xfrm>
            <a:off x="365760" y="2331720"/>
            <a:ext cx="4206240" cy="1005840"/>
          </a:xfrm>
          <a:prstGeom prst="rect">
            <a:avLst/>
          </a:prstGeom>
          <a:solidFill>
            <a:srgbClr val="FFFFFF"/>
          </a:solidFill>
          <a:ln/>
          <a:effectLst>
            <a:outerShdw blurRad="50800" dist="25400" dir="8100000" algn="bl" rotWithShape="0">
              <a:srgbClr val="000000">
                <a:alpha val="8000"/>
              </a:srgbClr>
            </a:outerShdw>
          </a:effectLst>
        </p:spPr>
      </p:sp>
      <p:sp>
        <p:nvSpPr>
          <p:cNvPr id="10" name="Shape 8"/>
          <p:cNvSpPr/>
          <p:nvPr/>
        </p:nvSpPr>
        <p:spPr>
          <a:xfrm>
            <a:off x="365760" y="2331720"/>
            <a:ext cx="109728" cy="1005840"/>
          </a:xfrm>
          <a:prstGeom prst="rect">
            <a:avLst/>
          </a:prstGeom>
          <a:solidFill>
            <a:srgbClr val="C0392B"/>
          </a:solidFill>
          <a:ln w="12700">
            <a:solidFill>
              <a:srgbClr val="C0392B"/>
            </a:solidFill>
            <a:prstDash val="solid"/>
          </a:ln>
        </p:spPr>
      </p:sp>
      <p:sp>
        <p:nvSpPr>
          <p:cNvPr id="11" name="Text 9"/>
          <p:cNvSpPr/>
          <p:nvPr/>
        </p:nvSpPr>
        <p:spPr>
          <a:xfrm>
            <a:off x="548640" y="2514600"/>
            <a:ext cx="548640" cy="64008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2" name="Text 10"/>
          <p:cNvSpPr/>
          <p:nvPr/>
        </p:nvSpPr>
        <p:spPr>
          <a:xfrm>
            <a:off x="1170432" y="2423160"/>
            <a:ext cx="3200400" cy="365760"/>
          </a:xfrm>
          <a:prstGeom prst="rect">
            <a:avLst/>
          </a:prstGeom>
          <a:noFill/>
          <a:ln/>
        </p:spPr>
        <p:txBody>
          <a:bodyPr wrap="square" lIns="0" tIns="0" rIns="0" bIns="0" rtlCol="0" anchor="ctr"/>
          <a:lstStyle/>
          <a:p>
            <a:pPr marL="0" indent="0">
              <a:buNone/>
            </a:pPr>
            <a:r>
              <a:rPr lang="en-US" sz="1300" b="1" dirty="0">
                <a:solidFill>
                  <a:srgbClr val="0D1B2A"/>
                </a:solidFill>
              </a:rPr>
              <a:t>State</a:t>
            </a:r>
            <a:endParaRPr lang="en-US" sz="1300" dirty="0"/>
          </a:p>
        </p:txBody>
      </p:sp>
      <p:sp>
        <p:nvSpPr>
          <p:cNvPr id="13" name="Text 11"/>
          <p:cNvSpPr/>
          <p:nvPr/>
        </p:nvSpPr>
        <p:spPr>
          <a:xfrm>
            <a:off x="1170432" y="2788920"/>
            <a:ext cx="3200400" cy="457200"/>
          </a:xfrm>
          <a:prstGeom prst="rect">
            <a:avLst/>
          </a:prstGeom>
          <a:noFill/>
          <a:ln/>
        </p:spPr>
        <p:txBody>
          <a:bodyPr wrap="square" lIns="0" tIns="0" rIns="0" bIns="0" rtlCol="0" anchor="ctr"/>
          <a:lstStyle/>
          <a:p>
            <a:pPr marL="0" indent="0">
              <a:buNone/>
            </a:pPr>
            <a:r>
              <a:rPr lang="en-US" sz="1200" dirty="0">
                <a:solidFill>
                  <a:srgbClr val="4A6277"/>
                </a:solidFill>
              </a:rPr>
              <a:t>28 States + 8 UTs across India</a:t>
            </a:r>
            <a:endParaRPr lang="en-US" sz="1200" dirty="0"/>
          </a:p>
        </p:txBody>
      </p:sp>
      <p:sp>
        <p:nvSpPr>
          <p:cNvPr id="14" name="Shape 12"/>
          <p:cNvSpPr/>
          <p:nvPr/>
        </p:nvSpPr>
        <p:spPr>
          <a:xfrm>
            <a:off x="4800600" y="2331720"/>
            <a:ext cx="4206240" cy="1005840"/>
          </a:xfrm>
          <a:prstGeom prst="rect">
            <a:avLst/>
          </a:prstGeom>
          <a:solidFill>
            <a:srgbClr val="FFFFFF"/>
          </a:solidFill>
          <a:ln/>
          <a:effectLst>
            <a:outerShdw blurRad="50800" dist="25400" dir="8100000" algn="bl" rotWithShape="0">
              <a:srgbClr val="000000">
                <a:alpha val="8000"/>
              </a:srgbClr>
            </a:outerShdw>
          </a:effectLst>
        </p:spPr>
      </p:sp>
      <p:sp>
        <p:nvSpPr>
          <p:cNvPr id="15" name="Shape 13"/>
          <p:cNvSpPr/>
          <p:nvPr/>
        </p:nvSpPr>
        <p:spPr>
          <a:xfrm>
            <a:off x="4800600" y="2331720"/>
            <a:ext cx="109728" cy="1005840"/>
          </a:xfrm>
          <a:prstGeom prst="rect">
            <a:avLst/>
          </a:prstGeom>
          <a:solidFill>
            <a:srgbClr val="C0392B"/>
          </a:solidFill>
          <a:ln w="12700">
            <a:solidFill>
              <a:srgbClr val="C0392B"/>
            </a:solidFill>
            <a:prstDash val="solid"/>
          </a:ln>
        </p:spPr>
      </p:sp>
      <p:sp>
        <p:nvSpPr>
          <p:cNvPr id="16" name="Text 14"/>
          <p:cNvSpPr/>
          <p:nvPr/>
        </p:nvSpPr>
        <p:spPr>
          <a:xfrm>
            <a:off x="4983480" y="2514600"/>
            <a:ext cx="548640" cy="64008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7" name="Text 15"/>
          <p:cNvSpPr/>
          <p:nvPr/>
        </p:nvSpPr>
        <p:spPr>
          <a:xfrm>
            <a:off x="5605272" y="2423160"/>
            <a:ext cx="3200400" cy="365760"/>
          </a:xfrm>
          <a:prstGeom prst="rect">
            <a:avLst/>
          </a:prstGeom>
          <a:noFill/>
          <a:ln/>
        </p:spPr>
        <p:txBody>
          <a:bodyPr wrap="square" lIns="0" tIns="0" rIns="0" bIns="0" rtlCol="0" anchor="ctr"/>
          <a:lstStyle/>
          <a:p>
            <a:pPr marL="0" indent="0">
              <a:buNone/>
            </a:pPr>
            <a:r>
              <a:rPr lang="en-US" sz="1300" b="1" dirty="0">
                <a:solidFill>
                  <a:srgbClr val="0D1B2A"/>
                </a:solidFill>
              </a:rPr>
              <a:t>Year</a:t>
            </a:r>
            <a:endParaRPr lang="en-US" sz="1300" dirty="0"/>
          </a:p>
        </p:txBody>
      </p:sp>
      <p:sp>
        <p:nvSpPr>
          <p:cNvPr id="18" name="Text 16"/>
          <p:cNvSpPr/>
          <p:nvPr/>
        </p:nvSpPr>
        <p:spPr>
          <a:xfrm>
            <a:off x="5605272" y="2788920"/>
            <a:ext cx="3200400" cy="457200"/>
          </a:xfrm>
          <a:prstGeom prst="rect">
            <a:avLst/>
          </a:prstGeom>
          <a:noFill/>
          <a:ln/>
        </p:spPr>
        <p:txBody>
          <a:bodyPr wrap="square" lIns="0" tIns="0" rIns="0" bIns="0" rtlCol="0" anchor="ctr"/>
          <a:lstStyle/>
          <a:p>
            <a:pPr marL="0" indent="0">
              <a:buNone/>
            </a:pPr>
            <a:r>
              <a:rPr lang="en-US" sz="1200" dirty="0">
                <a:solidFill>
                  <a:srgbClr val="4A6277"/>
                </a:solidFill>
              </a:rPr>
              <a:t>Multi-year time-series data</a:t>
            </a:r>
            <a:endParaRPr lang="en-US" sz="1200" dirty="0"/>
          </a:p>
        </p:txBody>
      </p:sp>
      <p:sp>
        <p:nvSpPr>
          <p:cNvPr id="19" name="Shape 17"/>
          <p:cNvSpPr/>
          <p:nvPr/>
        </p:nvSpPr>
        <p:spPr>
          <a:xfrm>
            <a:off x="365760" y="3520440"/>
            <a:ext cx="4206240" cy="1005840"/>
          </a:xfrm>
          <a:prstGeom prst="rect">
            <a:avLst/>
          </a:prstGeom>
          <a:solidFill>
            <a:srgbClr val="FFFFFF"/>
          </a:solidFill>
          <a:ln/>
          <a:effectLst>
            <a:outerShdw blurRad="50800" dist="25400" dir="8100000" algn="bl" rotWithShape="0">
              <a:srgbClr val="000000">
                <a:alpha val="8000"/>
              </a:srgbClr>
            </a:outerShdw>
          </a:effectLst>
        </p:spPr>
      </p:sp>
      <p:sp>
        <p:nvSpPr>
          <p:cNvPr id="20" name="Shape 18"/>
          <p:cNvSpPr/>
          <p:nvPr/>
        </p:nvSpPr>
        <p:spPr>
          <a:xfrm>
            <a:off x="365760" y="3520440"/>
            <a:ext cx="109728" cy="1005840"/>
          </a:xfrm>
          <a:prstGeom prst="rect">
            <a:avLst/>
          </a:prstGeom>
          <a:solidFill>
            <a:srgbClr val="C0392B"/>
          </a:solidFill>
          <a:ln w="12700">
            <a:solidFill>
              <a:srgbClr val="C0392B"/>
            </a:solidFill>
            <a:prstDash val="solid"/>
          </a:ln>
        </p:spPr>
      </p:sp>
      <p:sp>
        <p:nvSpPr>
          <p:cNvPr id="21" name="Text 19"/>
          <p:cNvSpPr/>
          <p:nvPr/>
        </p:nvSpPr>
        <p:spPr>
          <a:xfrm>
            <a:off x="548640" y="3703320"/>
            <a:ext cx="548640" cy="64008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22" name="Text 20"/>
          <p:cNvSpPr/>
          <p:nvPr/>
        </p:nvSpPr>
        <p:spPr>
          <a:xfrm>
            <a:off x="1170432" y="3611880"/>
            <a:ext cx="3200400" cy="365760"/>
          </a:xfrm>
          <a:prstGeom prst="rect">
            <a:avLst/>
          </a:prstGeom>
          <a:noFill/>
          <a:ln/>
        </p:spPr>
        <p:txBody>
          <a:bodyPr wrap="square" lIns="0" tIns="0" rIns="0" bIns="0" rtlCol="0" anchor="ctr"/>
          <a:lstStyle/>
          <a:p>
            <a:pPr marL="0" indent="0">
              <a:buNone/>
            </a:pPr>
            <a:r>
              <a:rPr lang="en-US" sz="1300" b="1" dirty="0">
                <a:solidFill>
                  <a:srgbClr val="0D1B2A"/>
                </a:solidFill>
              </a:rPr>
              <a:t>Crime Rate</a:t>
            </a:r>
            <a:endParaRPr lang="en-US" sz="1300" dirty="0"/>
          </a:p>
        </p:txBody>
      </p:sp>
      <p:sp>
        <p:nvSpPr>
          <p:cNvPr id="23" name="Text 21"/>
          <p:cNvSpPr/>
          <p:nvPr/>
        </p:nvSpPr>
        <p:spPr>
          <a:xfrm>
            <a:off x="1170432" y="3977640"/>
            <a:ext cx="3200400" cy="457200"/>
          </a:xfrm>
          <a:prstGeom prst="rect">
            <a:avLst/>
          </a:prstGeom>
          <a:noFill/>
          <a:ln/>
        </p:spPr>
        <p:txBody>
          <a:bodyPr wrap="square" lIns="0" tIns="0" rIns="0" bIns="0" rtlCol="0" anchor="ctr"/>
          <a:lstStyle/>
          <a:p>
            <a:pPr marL="0" indent="0">
              <a:buNone/>
            </a:pPr>
            <a:r>
              <a:rPr lang="en-US" sz="1200" dirty="0">
                <a:solidFill>
                  <a:srgbClr val="4A6277"/>
                </a:solidFill>
              </a:rPr>
              <a:t>Total crimes per state/year</a:t>
            </a:r>
            <a:endParaRPr lang="en-US" sz="1200" dirty="0"/>
          </a:p>
        </p:txBody>
      </p:sp>
      <p:sp>
        <p:nvSpPr>
          <p:cNvPr id="24" name="Shape 22"/>
          <p:cNvSpPr/>
          <p:nvPr/>
        </p:nvSpPr>
        <p:spPr>
          <a:xfrm>
            <a:off x="4800600" y="3520440"/>
            <a:ext cx="4206240" cy="1005840"/>
          </a:xfrm>
          <a:prstGeom prst="rect">
            <a:avLst/>
          </a:prstGeom>
          <a:solidFill>
            <a:srgbClr val="FFFFFF"/>
          </a:solidFill>
          <a:ln/>
          <a:effectLst>
            <a:outerShdw blurRad="50800" dist="25400" dir="8100000" algn="bl" rotWithShape="0">
              <a:srgbClr val="000000">
                <a:alpha val="8000"/>
              </a:srgbClr>
            </a:outerShdw>
          </a:effectLst>
        </p:spPr>
      </p:sp>
      <p:sp>
        <p:nvSpPr>
          <p:cNvPr id="25" name="Shape 23"/>
          <p:cNvSpPr/>
          <p:nvPr/>
        </p:nvSpPr>
        <p:spPr>
          <a:xfrm>
            <a:off x="4800600" y="3520440"/>
            <a:ext cx="109728" cy="1005840"/>
          </a:xfrm>
          <a:prstGeom prst="rect">
            <a:avLst/>
          </a:prstGeom>
          <a:solidFill>
            <a:srgbClr val="C0392B"/>
          </a:solidFill>
          <a:ln w="12700">
            <a:solidFill>
              <a:srgbClr val="C0392B"/>
            </a:solidFill>
            <a:prstDash val="solid"/>
          </a:ln>
        </p:spPr>
      </p:sp>
      <p:sp>
        <p:nvSpPr>
          <p:cNvPr id="26" name="Text 24"/>
          <p:cNvSpPr/>
          <p:nvPr/>
        </p:nvSpPr>
        <p:spPr>
          <a:xfrm>
            <a:off x="4983480" y="3703320"/>
            <a:ext cx="548640" cy="64008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27" name="Text 25"/>
          <p:cNvSpPr/>
          <p:nvPr/>
        </p:nvSpPr>
        <p:spPr>
          <a:xfrm>
            <a:off x="5605272" y="3611880"/>
            <a:ext cx="3200400" cy="365760"/>
          </a:xfrm>
          <a:prstGeom prst="rect">
            <a:avLst/>
          </a:prstGeom>
          <a:noFill/>
          <a:ln/>
        </p:spPr>
        <p:txBody>
          <a:bodyPr wrap="square" lIns="0" tIns="0" rIns="0" bIns="0" rtlCol="0" anchor="ctr"/>
          <a:lstStyle/>
          <a:p>
            <a:pPr marL="0" indent="0">
              <a:buNone/>
            </a:pPr>
            <a:r>
              <a:rPr lang="en-US" sz="1300" b="1" dirty="0">
                <a:solidFill>
                  <a:srgbClr val="0D1B2A"/>
                </a:solidFill>
              </a:rPr>
              <a:t>Time Series</a:t>
            </a:r>
            <a:endParaRPr lang="en-US" sz="1300" dirty="0"/>
          </a:p>
        </p:txBody>
      </p:sp>
      <p:sp>
        <p:nvSpPr>
          <p:cNvPr id="28" name="Text 26"/>
          <p:cNvSpPr/>
          <p:nvPr/>
        </p:nvSpPr>
        <p:spPr>
          <a:xfrm>
            <a:off x="5605272" y="3977640"/>
            <a:ext cx="3200400" cy="457200"/>
          </a:xfrm>
          <a:prstGeom prst="rect">
            <a:avLst/>
          </a:prstGeom>
          <a:noFill/>
          <a:ln/>
        </p:spPr>
        <p:txBody>
          <a:bodyPr wrap="square" lIns="0" tIns="0" rIns="0" bIns="0" rtlCol="0" anchor="ctr"/>
          <a:lstStyle/>
          <a:p>
            <a:pPr marL="0" indent="0">
              <a:buNone/>
            </a:pPr>
            <a:r>
              <a:rPr lang="en-US" sz="1200" dirty="0">
                <a:solidFill>
                  <a:srgbClr val="4A6277"/>
                </a:solidFill>
              </a:rPr>
              <a:t>Year-wise trend data for analysis</a:t>
            </a:r>
            <a:endParaRPr lang="en-US" sz="1200" dirty="0"/>
          </a:p>
        </p:txBody>
      </p:sp>
      <p:sp>
        <p:nvSpPr>
          <p:cNvPr id="29" name="Text 27"/>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20040" y="182880"/>
            <a:ext cx="8503920" cy="594360"/>
          </a:xfrm>
          <a:prstGeom prst="rect">
            <a:avLst/>
          </a:prstGeom>
          <a:noFill/>
          <a:ln/>
        </p:spPr>
        <p:txBody>
          <a:bodyPr wrap="square" lIns="0" tIns="0" rIns="0" bIns="0" rtlCol="0" anchor="ctr"/>
          <a:lstStyle/>
          <a:p>
            <a:pPr marL="0" indent="0">
              <a:buNone/>
            </a:pPr>
            <a:r>
              <a:rPr lang="en-US" sz="2600" b="1" dirty="0">
                <a:solidFill>
                  <a:srgbClr val="FFFFFF"/>
                </a:solidFill>
              </a:rPr>
              <a:t>MODEL &amp; RESULTS</a:t>
            </a:r>
            <a:endParaRPr lang="en-US" sz="2600" dirty="0"/>
          </a:p>
        </p:txBody>
      </p:sp>
      <p:sp>
        <p:nvSpPr>
          <p:cNvPr id="4" name="Shape 2"/>
          <p:cNvSpPr/>
          <p:nvPr/>
        </p:nvSpPr>
        <p:spPr>
          <a:xfrm>
            <a:off x="320040" y="804672"/>
            <a:ext cx="8503920" cy="36576"/>
          </a:xfrm>
          <a:prstGeom prst="rect">
            <a:avLst/>
          </a:prstGeom>
          <a:solidFill>
            <a:srgbClr val="8EAEC6"/>
          </a:solidFill>
          <a:ln w="12700">
            <a:solidFill>
              <a:srgbClr val="8EAEC6"/>
            </a:solidFill>
            <a:prstDash val="solid"/>
          </a:ln>
        </p:spPr>
      </p:sp>
      <p:sp>
        <p:nvSpPr>
          <p:cNvPr id="5" name="Shape 3"/>
          <p:cNvSpPr/>
          <p:nvPr/>
        </p:nvSpPr>
        <p:spPr>
          <a:xfrm>
            <a:off x="320040" y="960120"/>
            <a:ext cx="3931920" cy="3840480"/>
          </a:xfrm>
          <a:prstGeom prst="rect">
            <a:avLst/>
          </a:prstGeom>
          <a:solidFill>
            <a:srgbClr val="1A3A5C"/>
          </a:solidFill>
          <a:ln w="12700">
            <a:solidFill>
              <a:srgbClr val="8EAEC6"/>
            </a:solidFill>
            <a:prstDash val="solid"/>
          </a:ln>
        </p:spPr>
      </p:sp>
      <p:sp>
        <p:nvSpPr>
          <p:cNvPr id="6" name="Text 4"/>
          <p:cNvSpPr/>
          <p:nvPr/>
        </p:nvSpPr>
        <p:spPr>
          <a:xfrm>
            <a:off x="457200" y="1051560"/>
            <a:ext cx="3657600" cy="457200"/>
          </a:xfrm>
          <a:prstGeom prst="rect">
            <a:avLst/>
          </a:prstGeom>
          <a:noFill/>
          <a:ln/>
        </p:spPr>
        <p:txBody>
          <a:bodyPr wrap="square" lIns="0" tIns="0" rIns="0" bIns="0" rtlCol="0" anchor="ctr"/>
          <a:lstStyle/>
          <a:p>
            <a:pPr marL="0" indent="0">
              <a:buNone/>
            </a:pPr>
            <a:r>
              <a:rPr lang="en-US" sz="1400" b="1" dirty="0">
                <a:solidFill>
                  <a:srgbClr val="F39C12"/>
                </a:solidFill>
              </a:rPr>
              <a:t>🤖  Model Used</a:t>
            </a:r>
            <a:endParaRPr lang="en-US" sz="1400" dirty="0"/>
          </a:p>
        </p:txBody>
      </p:sp>
      <p:sp>
        <p:nvSpPr>
          <p:cNvPr id="7" name="Text 5"/>
          <p:cNvSpPr/>
          <p:nvPr/>
        </p:nvSpPr>
        <p:spPr>
          <a:xfrm>
            <a:off x="457200" y="1508760"/>
            <a:ext cx="3657600" cy="502920"/>
          </a:xfrm>
          <a:prstGeom prst="rect">
            <a:avLst/>
          </a:prstGeom>
          <a:noFill/>
          <a:ln/>
        </p:spPr>
        <p:txBody>
          <a:bodyPr wrap="square" lIns="0" tIns="0" rIns="0" bIns="0" rtlCol="0" anchor="ctr"/>
          <a:lstStyle/>
          <a:p>
            <a:pPr marL="0" indent="0">
              <a:buNone/>
            </a:pPr>
            <a:r>
              <a:rPr lang="en-US" sz="2200" b="1" dirty="0">
                <a:solidFill>
                  <a:srgbClr val="FFFFFF"/>
                </a:solidFill>
              </a:rPr>
              <a:t>Linear Regression</a:t>
            </a:r>
            <a:endParaRPr lang="en-US" sz="2200" dirty="0"/>
          </a:p>
        </p:txBody>
      </p:sp>
      <p:sp>
        <p:nvSpPr>
          <p:cNvPr id="8" name="Shape 6"/>
          <p:cNvSpPr/>
          <p:nvPr/>
        </p:nvSpPr>
        <p:spPr>
          <a:xfrm>
            <a:off x="457200" y="2103120"/>
            <a:ext cx="3566160" cy="36576"/>
          </a:xfrm>
          <a:prstGeom prst="rect">
            <a:avLst/>
          </a:prstGeom>
          <a:solidFill>
            <a:srgbClr val="8EAEC6"/>
          </a:solidFill>
          <a:ln w="12700">
            <a:solidFill>
              <a:srgbClr val="8EAEC6"/>
            </a:solidFill>
            <a:prstDash val="solid"/>
          </a:ln>
        </p:spPr>
      </p:sp>
      <p:sp>
        <p:nvSpPr>
          <p:cNvPr id="9" name="Text 7"/>
          <p:cNvSpPr/>
          <p:nvPr/>
        </p:nvSpPr>
        <p:spPr>
          <a:xfrm>
            <a:off x="457200" y="2240280"/>
            <a:ext cx="3657600" cy="365760"/>
          </a:xfrm>
          <a:prstGeom prst="rect">
            <a:avLst/>
          </a:prstGeom>
          <a:noFill/>
          <a:ln/>
        </p:spPr>
        <p:txBody>
          <a:bodyPr wrap="square" lIns="0" tIns="0" rIns="0" bIns="0" rtlCol="0" anchor="ctr"/>
          <a:lstStyle/>
          <a:p>
            <a:pPr marL="0" indent="0">
              <a:buNone/>
            </a:pPr>
            <a:r>
              <a:rPr lang="en-US" sz="1200" dirty="0">
                <a:solidFill>
                  <a:srgbClr val="D6E4F0"/>
                </a:solidFill>
              </a:rPr>
              <a:t>Captures relationship between:</a:t>
            </a:r>
            <a:endParaRPr lang="en-US" sz="1200" dirty="0"/>
          </a:p>
        </p:txBody>
      </p:sp>
      <p:sp>
        <p:nvSpPr>
          <p:cNvPr id="10" name="Shape 8"/>
          <p:cNvSpPr/>
          <p:nvPr/>
        </p:nvSpPr>
        <p:spPr>
          <a:xfrm>
            <a:off x="457200" y="2743200"/>
            <a:ext cx="3566160" cy="640080"/>
          </a:xfrm>
          <a:prstGeom prst="rect">
            <a:avLst/>
          </a:prstGeom>
          <a:solidFill>
            <a:srgbClr val="0D1B2A"/>
          </a:solidFill>
          <a:ln w="12700">
            <a:solidFill>
              <a:srgbClr val="8EAEC6"/>
            </a:solidFill>
            <a:prstDash val="solid"/>
          </a:ln>
        </p:spPr>
      </p:sp>
      <p:sp>
        <p:nvSpPr>
          <p:cNvPr id="11" name="Text 9"/>
          <p:cNvSpPr/>
          <p:nvPr/>
        </p:nvSpPr>
        <p:spPr>
          <a:xfrm>
            <a:off x="457200" y="2743200"/>
            <a:ext cx="3566160" cy="640080"/>
          </a:xfrm>
          <a:prstGeom prst="rect">
            <a:avLst/>
          </a:prstGeom>
          <a:noFill/>
          <a:ln/>
        </p:spPr>
        <p:txBody>
          <a:bodyPr wrap="square" lIns="0" tIns="0" rIns="0" bIns="0" rtlCol="0" anchor="ctr"/>
          <a:lstStyle/>
          <a:p>
            <a:pPr marL="0" indent="0" algn="ctr">
              <a:buNone/>
            </a:pPr>
            <a:r>
              <a:rPr lang="en-US" sz="1800" b="1" dirty="0">
                <a:solidFill>
                  <a:srgbClr val="F39C12"/>
                </a:solidFill>
              </a:rPr>
              <a:t>Year  →  Crime Rate</a:t>
            </a:r>
            <a:endParaRPr lang="en-US" sz="1800" dirty="0"/>
          </a:p>
        </p:txBody>
      </p:sp>
      <p:sp>
        <p:nvSpPr>
          <p:cNvPr id="12" name="Text 10"/>
          <p:cNvSpPr/>
          <p:nvPr/>
        </p:nvSpPr>
        <p:spPr>
          <a:xfrm>
            <a:off x="457200" y="3520440"/>
            <a:ext cx="3657600" cy="457200"/>
          </a:xfrm>
          <a:prstGeom prst="rect">
            <a:avLst/>
          </a:prstGeom>
          <a:noFill/>
          <a:ln/>
        </p:spPr>
        <p:txBody>
          <a:bodyPr wrap="square" lIns="0" tIns="0" rIns="0" bIns="0" rtlCol="0" anchor="ctr"/>
          <a:lstStyle/>
          <a:p>
            <a:pPr marL="0" indent="0">
              <a:buNone/>
            </a:pPr>
            <a:r>
              <a:rPr lang="en-US" sz="1200" dirty="0">
                <a:solidFill>
                  <a:srgbClr val="D6E4F0"/>
                </a:solidFill>
              </a:rPr>
              <a:t>Output: Predicted crime rates for 2023–2025</a:t>
            </a:r>
            <a:endParaRPr lang="en-US" sz="1200" dirty="0"/>
          </a:p>
        </p:txBody>
      </p:sp>
      <p:sp>
        <p:nvSpPr>
          <p:cNvPr id="13" name="Shape 11"/>
          <p:cNvSpPr/>
          <p:nvPr/>
        </p:nvSpPr>
        <p:spPr>
          <a:xfrm>
            <a:off x="4572000" y="960120"/>
            <a:ext cx="4206240" cy="3840480"/>
          </a:xfrm>
          <a:prstGeom prst="rect">
            <a:avLst/>
          </a:prstGeom>
          <a:solidFill>
            <a:srgbClr val="1A3A5C"/>
          </a:solidFill>
          <a:ln w="12700">
            <a:solidFill>
              <a:srgbClr val="8EAEC6"/>
            </a:solidFill>
            <a:prstDash val="solid"/>
          </a:ln>
        </p:spPr>
      </p:sp>
      <p:sp>
        <p:nvSpPr>
          <p:cNvPr id="14" name="Text 12"/>
          <p:cNvSpPr/>
          <p:nvPr/>
        </p:nvSpPr>
        <p:spPr>
          <a:xfrm>
            <a:off x="4709160" y="1051560"/>
            <a:ext cx="3931920" cy="457200"/>
          </a:xfrm>
          <a:prstGeom prst="rect">
            <a:avLst/>
          </a:prstGeom>
          <a:noFill/>
          <a:ln/>
        </p:spPr>
        <p:txBody>
          <a:bodyPr wrap="square" lIns="0" tIns="0" rIns="0" bIns="0" rtlCol="0" anchor="ctr"/>
          <a:lstStyle/>
          <a:p>
            <a:pPr marL="0" indent="0">
              <a:buNone/>
            </a:pPr>
            <a:r>
              <a:rPr lang="en-US" sz="1400" b="1" dirty="0">
                <a:solidFill>
                  <a:srgbClr val="F39C12"/>
                </a:solidFill>
              </a:rPr>
              <a:t>📊  Model Performance</a:t>
            </a:r>
            <a:endParaRPr lang="en-US" sz="1400" dirty="0"/>
          </a:p>
        </p:txBody>
      </p:sp>
      <p:sp>
        <p:nvSpPr>
          <p:cNvPr id="15" name="Shape 13"/>
          <p:cNvSpPr/>
          <p:nvPr/>
        </p:nvSpPr>
        <p:spPr>
          <a:xfrm>
            <a:off x="4709160" y="1600200"/>
            <a:ext cx="3931920" cy="1188720"/>
          </a:xfrm>
          <a:prstGeom prst="rect">
            <a:avLst/>
          </a:prstGeom>
          <a:solidFill>
            <a:srgbClr val="C0392B"/>
          </a:solidFill>
          <a:ln w="12700">
            <a:solidFill>
              <a:srgbClr val="E74C3C"/>
            </a:solidFill>
            <a:prstDash val="solid"/>
          </a:ln>
        </p:spPr>
      </p:sp>
      <p:sp>
        <p:nvSpPr>
          <p:cNvPr id="16" name="Text 14"/>
          <p:cNvSpPr/>
          <p:nvPr/>
        </p:nvSpPr>
        <p:spPr>
          <a:xfrm>
            <a:off x="4709160" y="1645920"/>
            <a:ext cx="3931920" cy="365760"/>
          </a:xfrm>
          <a:prstGeom prst="rect">
            <a:avLst/>
          </a:prstGeom>
          <a:noFill/>
          <a:ln/>
        </p:spPr>
        <p:txBody>
          <a:bodyPr wrap="square" lIns="0" tIns="0" rIns="0" bIns="0" rtlCol="0" anchor="ctr"/>
          <a:lstStyle/>
          <a:p>
            <a:pPr marL="0" indent="0" algn="ctr">
              <a:buNone/>
            </a:pPr>
            <a:r>
              <a:rPr lang="en-US" sz="1300" b="1" dirty="0">
                <a:solidFill>
                  <a:srgbClr val="FFFFFF"/>
                </a:solidFill>
              </a:rPr>
              <a:t>R² Score</a:t>
            </a:r>
            <a:endParaRPr lang="en-US" sz="1300" dirty="0"/>
          </a:p>
        </p:txBody>
      </p:sp>
      <p:sp>
        <p:nvSpPr>
          <p:cNvPr id="17" name="Text 15"/>
          <p:cNvSpPr/>
          <p:nvPr/>
        </p:nvSpPr>
        <p:spPr>
          <a:xfrm>
            <a:off x="4709160" y="2011680"/>
            <a:ext cx="3931920" cy="457200"/>
          </a:xfrm>
          <a:prstGeom prst="rect">
            <a:avLst/>
          </a:prstGeom>
          <a:noFill/>
          <a:ln/>
        </p:spPr>
        <p:txBody>
          <a:bodyPr wrap="square" lIns="0" tIns="0" rIns="0" bIns="0" rtlCol="0" anchor="ctr"/>
          <a:lstStyle/>
          <a:p>
            <a:pPr marL="0" indent="0" algn="ctr">
              <a:buNone/>
            </a:pPr>
            <a:r>
              <a:rPr lang="en-US" sz="1100" i="1" dirty="0">
                <a:solidFill>
                  <a:srgbClr val="D6E4F0"/>
                </a:solidFill>
              </a:rPr>
              <a:t>(mention your value)</a:t>
            </a:r>
            <a:endParaRPr lang="en-US" sz="1100" dirty="0"/>
          </a:p>
        </p:txBody>
      </p:sp>
      <p:sp>
        <p:nvSpPr>
          <p:cNvPr id="18" name="Text 16"/>
          <p:cNvSpPr/>
          <p:nvPr/>
        </p:nvSpPr>
        <p:spPr>
          <a:xfrm>
            <a:off x="4709160" y="2468880"/>
            <a:ext cx="3931920" cy="365760"/>
          </a:xfrm>
          <a:prstGeom prst="rect">
            <a:avLst/>
          </a:prstGeom>
          <a:noFill/>
          <a:ln/>
        </p:spPr>
        <p:txBody>
          <a:bodyPr wrap="square" lIns="0" tIns="0" rIns="0" bIns="0" rtlCol="0" anchor="ctr"/>
          <a:lstStyle/>
          <a:p>
            <a:pPr marL="0" indent="0" algn="ctr">
              <a:buNone/>
            </a:pPr>
            <a:r>
              <a:rPr lang="en-US" sz="1100" dirty="0">
                <a:solidFill>
                  <a:srgbClr val="FFFFFF"/>
                </a:solidFill>
              </a:rPr>
              <a:t>High accuracy in trend prediction</a:t>
            </a:r>
            <a:endParaRPr lang="en-US" sz="1100" dirty="0"/>
          </a:p>
        </p:txBody>
      </p:sp>
      <p:sp>
        <p:nvSpPr>
          <p:cNvPr id="19" name="Shape 17"/>
          <p:cNvSpPr/>
          <p:nvPr/>
        </p:nvSpPr>
        <p:spPr>
          <a:xfrm>
            <a:off x="4709160" y="2926080"/>
            <a:ext cx="3931920" cy="36576"/>
          </a:xfrm>
          <a:prstGeom prst="rect">
            <a:avLst/>
          </a:prstGeom>
          <a:solidFill>
            <a:srgbClr val="8EAEC6"/>
          </a:solidFill>
          <a:ln w="12700">
            <a:solidFill>
              <a:srgbClr val="8EAEC6"/>
            </a:solidFill>
            <a:prstDash val="solid"/>
          </a:ln>
        </p:spPr>
      </p:sp>
      <p:sp>
        <p:nvSpPr>
          <p:cNvPr id="20" name="Text 18"/>
          <p:cNvSpPr/>
          <p:nvPr/>
        </p:nvSpPr>
        <p:spPr>
          <a:xfrm>
            <a:off x="4709160" y="3063240"/>
            <a:ext cx="3931920" cy="411480"/>
          </a:xfrm>
          <a:prstGeom prst="rect">
            <a:avLst/>
          </a:prstGeom>
          <a:noFill/>
          <a:ln/>
        </p:spPr>
        <p:txBody>
          <a:bodyPr wrap="square" lIns="0" tIns="0" rIns="0" bIns="0" rtlCol="0" anchor="ctr"/>
          <a:lstStyle/>
          <a:p>
            <a:pPr marL="0" indent="0">
              <a:buNone/>
            </a:pPr>
            <a:r>
              <a:rPr lang="en-US" sz="1200" dirty="0">
                <a:solidFill>
                  <a:srgbClr val="D6E4F0"/>
                </a:solidFill>
              </a:rPr>
              <a:t>✔  Good trend approximation across states</a:t>
            </a:r>
            <a:endParaRPr lang="en-US" sz="1200" dirty="0"/>
          </a:p>
        </p:txBody>
      </p:sp>
      <p:sp>
        <p:nvSpPr>
          <p:cNvPr id="21" name="Text 19"/>
          <p:cNvSpPr/>
          <p:nvPr/>
        </p:nvSpPr>
        <p:spPr>
          <a:xfrm>
            <a:off x="4709160" y="3474720"/>
            <a:ext cx="3931920" cy="411480"/>
          </a:xfrm>
          <a:prstGeom prst="rect">
            <a:avLst/>
          </a:prstGeom>
          <a:noFill/>
          <a:ln/>
        </p:spPr>
        <p:txBody>
          <a:bodyPr wrap="square" lIns="0" tIns="0" rIns="0" bIns="0" rtlCol="0" anchor="ctr"/>
          <a:lstStyle/>
          <a:p>
            <a:pPr marL="0" indent="0">
              <a:buNone/>
            </a:pPr>
            <a:r>
              <a:rPr lang="en-US" sz="1200" dirty="0">
                <a:solidFill>
                  <a:srgbClr val="D6E4F0"/>
                </a:solidFill>
              </a:rPr>
              <a:t>✔  Low prediction error on test data</a:t>
            </a:r>
            <a:endParaRPr lang="en-US" sz="1200" dirty="0"/>
          </a:p>
        </p:txBody>
      </p:sp>
      <p:sp>
        <p:nvSpPr>
          <p:cNvPr id="22" name="Text 20"/>
          <p:cNvSpPr/>
          <p:nvPr/>
        </p:nvSpPr>
        <p:spPr>
          <a:xfrm>
            <a:off x="4709160" y="3886200"/>
            <a:ext cx="3931920" cy="411480"/>
          </a:xfrm>
          <a:prstGeom prst="rect">
            <a:avLst/>
          </a:prstGeom>
          <a:noFill/>
          <a:ln/>
        </p:spPr>
        <p:txBody>
          <a:bodyPr wrap="square" lIns="0" tIns="0" rIns="0" bIns="0" rtlCol="0" anchor="ctr"/>
          <a:lstStyle/>
          <a:p>
            <a:pPr marL="0" indent="0">
              <a:buNone/>
            </a:pPr>
            <a:r>
              <a:rPr lang="en-US" sz="1200" dirty="0">
                <a:solidFill>
                  <a:srgbClr val="D6E4F0"/>
                </a:solidFill>
              </a:rPr>
              <a:t>✔  Useful for 2023–2025 forecasting</a:t>
            </a:r>
            <a:endParaRPr lang="en-US" sz="1200" dirty="0"/>
          </a:p>
        </p:txBody>
      </p:sp>
      <p:sp>
        <p:nvSpPr>
          <p:cNvPr id="23" name="Text 21"/>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KEY FINDINGS</a:t>
            </a:r>
            <a:endParaRPr lang="en-US" sz="2600" dirty="0"/>
          </a:p>
        </p:txBody>
      </p:sp>
      <p:sp>
        <p:nvSpPr>
          <p:cNvPr id="5" name="Shape 3"/>
          <p:cNvSpPr/>
          <p:nvPr/>
        </p:nvSpPr>
        <p:spPr>
          <a:xfrm>
            <a:off x="365760" y="1051560"/>
            <a:ext cx="8412480" cy="685800"/>
          </a:xfrm>
          <a:prstGeom prst="rect">
            <a:avLst/>
          </a:prstGeom>
          <a:solidFill>
            <a:srgbClr val="FFFFFF"/>
          </a:solidFill>
          <a:ln/>
          <a:effectLst>
            <a:outerShdw blurRad="38100" dist="12700" dir="8100000" algn="bl" rotWithShape="0">
              <a:srgbClr val="000000">
                <a:alpha val="6000"/>
              </a:srgbClr>
            </a:outerShdw>
          </a:effectLst>
        </p:spPr>
      </p:sp>
      <p:sp>
        <p:nvSpPr>
          <p:cNvPr id="6" name="Shape 4"/>
          <p:cNvSpPr/>
          <p:nvPr/>
        </p:nvSpPr>
        <p:spPr>
          <a:xfrm>
            <a:off x="502920" y="1143000"/>
            <a:ext cx="502920" cy="502920"/>
          </a:xfrm>
          <a:prstGeom prst="ellipse">
            <a:avLst/>
          </a:prstGeom>
          <a:solidFill>
            <a:srgbClr val="C0392B"/>
          </a:solidFill>
          <a:ln w="12700">
            <a:solidFill>
              <a:srgbClr val="E74C3C"/>
            </a:solidFill>
            <a:prstDash val="solid"/>
          </a:ln>
        </p:spPr>
      </p:sp>
      <p:sp>
        <p:nvSpPr>
          <p:cNvPr id="7" name="Text 5"/>
          <p:cNvSpPr/>
          <p:nvPr/>
        </p:nvSpPr>
        <p:spPr>
          <a:xfrm>
            <a:off x="502920" y="114300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1143000" y="1170432"/>
            <a:ext cx="7498080" cy="457200"/>
          </a:xfrm>
          <a:prstGeom prst="rect">
            <a:avLst/>
          </a:prstGeom>
          <a:noFill/>
          <a:ln/>
        </p:spPr>
        <p:txBody>
          <a:bodyPr wrap="square" lIns="0" tIns="0" rIns="0" bIns="0" rtlCol="0" anchor="ctr"/>
          <a:lstStyle/>
          <a:p>
            <a:pPr marL="0" indent="0">
              <a:buNone/>
            </a:pPr>
            <a:r>
              <a:rPr lang="en-US" sz="1500" dirty="0">
                <a:solidFill>
                  <a:srgbClr val="0D1B2A"/>
                </a:solidFill>
              </a:rPr>
              <a:t>Crime trends vary significantly across Indian states</a:t>
            </a:r>
            <a:endParaRPr lang="en-US" sz="1500" dirty="0"/>
          </a:p>
        </p:txBody>
      </p:sp>
      <p:sp>
        <p:nvSpPr>
          <p:cNvPr id="9" name="Shape 7"/>
          <p:cNvSpPr/>
          <p:nvPr/>
        </p:nvSpPr>
        <p:spPr>
          <a:xfrm>
            <a:off x="365760" y="1847088"/>
            <a:ext cx="8412480" cy="685800"/>
          </a:xfrm>
          <a:prstGeom prst="rect">
            <a:avLst/>
          </a:prstGeom>
          <a:solidFill>
            <a:srgbClr val="F0F4F8"/>
          </a:solidFill>
          <a:ln/>
          <a:effectLst>
            <a:outerShdw blurRad="38100" dist="12700" dir="8100000" algn="bl" rotWithShape="0">
              <a:srgbClr val="000000">
                <a:alpha val="6000"/>
              </a:srgbClr>
            </a:outerShdw>
          </a:effectLst>
        </p:spPr>
      </p:sp>
      <p:sp>
        <p:nvSpPr>
          <p:cNvPr id="10" name="Shape 8"/>
          <p:cNvSpPr/>
          <p:nvPr/>
        </p:nvSpPr>
        <p:spPr>
          <a:xfrm>
            <a:off x="502920" y="1938528"/>
            <a:ext cx="502920" cy="502920"/>
          </a:xfrm>
          <a:prstGeom prst="ellipse">
            <a:avLst/>
          </a:prstGeom>
          <a:solidFill>
            <a:srgbClr val="C0392B"/>
          </a:solidFill>
          <a:ln w="12700">
            <a:solidFill>
              <a:srgbClr val="E74C3C"/>
            </a:solidFill>
            <a:prstDash val="solid"/>
          </a:ln>
        </p:spPr>
      </p:sp>
      <p:sp>
        <p:nvSpPr>
          <p:cNvPr id="11" name="Text 9"/>
          <p:cNvSpPr/>
          <p:nvPr/>
        </p:nvSpPr>
        <p:spPr>
          <a:xfrm>
            <a:off x="502920" y="1938528"/>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1143000" y="1965960"/>
            <a:ext cx="7498080" cy="457200"/>
          </a:xfrm>
          <a:prstGeom prst="rect">
            <a:avLst/>
          </a:prstGeom>
          <a:noFill/>
          <a:ln/>
        </p:spPr>
        <p:txBody>
          <a:bodyPr wrap="square" lIns="0" tIns="0" rIns="0" bIns="0" rtlCol="0" anchor="ctr"/>
          <a:lstStyle/>
          <a:p>
            <a:pPr marL="0" indent="0">
              <a:buNone/>
            </a:pPr>
            <a:r>
              <a:rPr lang="en-US" sz="1500" dirty="0">
                <a:solidFill>
                  <a:srgbClr val="0D1B2A"/>
                </a:solidFill>
              </a:rPr>
              <a:t>Some states show an increasing crime trend over years</a:t>
            </a:r>
            <a:endParaRPr lang="en-US" sz="1500" dirty="0"/>
          </a:p>
        </p:txBody>
      </p:sp>
      <p:sp>
        <p:nvSpPr>
          <p:cNvPr id="13" name="Shape 11"/>
          <p:cNvSpPr/>
          <p:nvPr/>
        </p:nvSpPr>
        <p:spPr>
          <a:xfrm>
            <a:off x="365760" y="2642616"/>
            <a:ext cx="8412480" cy="685800"/>
          </a:xfrm>
          <a:prstGeom prst="rect">
            <a:avLst/>
          </a:prstGeom>
          <a:solidFill>
            <a:srgbClr val="FFFFFF"/>
          </a:solidFill>
          <a:ln/>
          <a:effectLst>
            <a:outerShdw blurRad="38100" dist="12700" dir="8100000" algn="bl" rotWithShape="0">
              <a:srgbClr val="000000">
                <a:alpha val="6000"/>
              </a:srgbClr>
            </a:outerShdw>
          </a:effectLst>
        </p:spPr>
      </p:sp>
      <p:sp>
        <p:nvSpPr>
          <p:cNvPr id="14" name="Shape 12"/>
          <p:cNvSpPr/>
          <p:nvPr/>
        </p:nvSpPr>
        <p:spPr>
          <a:xfrm>
            <a:off x="502920" y="2734056"/>
            <a:ext cx="502920" cy="502920"/>
          </a:xfrm>
          <a:prstGeom prst="ellipse">
            <a:avLst/>
          </a:prstGeom>
          <a:solidFill>
            <a:srgbClr val="C0392B"/>
          </a:solidFill>
          <a:ln w="12700">
            <a:solidFill>
              <a:srgbClr val="E74C3C"/>
            </a:solidFill>
            <a:prstDash val="solid"/>
          </a:ln>
        </p:spPr>
      </p:sp>
      <p:sp>
        <p:nvSpPr>
          <p:cNvPr id="15" name="Text 13"/>
          <p:cNvSpPr/>
          <p:nvPr/>
        </p:nvSpPr>
        <p:spPr>
          <a:xfrm>
            <a:off x="502920" y="2734056"/>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1143000" y="2761488"/>
            <a:ext cx="7498080" cy="457200"/>
          </a:xfrm>
          <a:prstGeom prst="rect">
            <a:avLst/>
          </a:prstGeom>
          <a:noFill/>
          <a:ln/>
        </p:spPr>
        <p:txBody>
          <a:bodyPr wrap="square" lIns="0" tIns="0" rIns="0" bIns="0" rtlCol="0" anchor="ctr"/>
          <a:lstStyle/>
          <a:p>
            <a:pPr marL="0" indent="0">
              <a:buNone/>
            </a:pPr>
            <a:r>
              <a:rPr lang="en-US" sz="1500" dirty="0">
                <a:solidFill>
                  <a:srgbClr val="0D1B2A"/>
                </a:solidFill>
              </a:rPr>
              <a:t>Others show stable or decreasing crime patterns</a:t>
            </a:r>
            <a:endParaRPr lang="en-US" sz="1500" dirty="0"/>
          </a:p>
        </p:txBody>
      </p:sp>
      <p:sp>
        <p:nvSpPr>
          <p:cNvPr id="17" name="Shape 15"/>
          <p:cNvSpPr/>
          <p:nvPr/>
        </p:nvSpPr>
        <p:spPr>
          <a:xfrm>
            <a:off x="365760" y="3438144"/>
            <a:ext cx="8412480" cy="685800"/>
          </a:xfrm>
          <a:prstGeom prst="rect">
            <a:avLst/>
          </a:prstGeom>
          <a:solidFill>
            <a:srgbClr val="F0F4F8"/>
          </a:solidFill>
          <a:ln/>
          <a:effectLst>
            <a:outerShdw blurRad="38100" dist="12700" dir="8100000" algn="bl" rotWithShape="0">
              <a:srgbClr val="000000">
                <a:alpha val="6000"/>
              </a:srgbClr>
            </a:outerShdw>
          </a:effectLst>
        </p:spPr>
      </p:sp>
      <p:sp>
        <p:nvSpPr>
          <p:cNvPr id="18" name="Shape 16"/>
          <p:cNvSpPr/>
          <p:nvPr/>
        </p:nvSpPr>
        <p:spPr>
          <a:xfrm>
            <a:off x="502920" y="3529584"/>
            <a:ext cx="502920" cy="502920"/>
          </a:xfrm>
          <a:prstGeom prst="ellipse">
            <a:avLst/>
          </a:prstGeom>
          <a:solidFill>
            <a:srgbClr val="C0392B"/>
          </a:solidFill>
          <a:ln w="12700">
            <a:solidFill>
              <a:srgbClr val="E74C3C"/>
            </a:solidFill>
            <a:prstDash val="solid"/>
          </a:ln>
        </p:spPr>
      </p:sp>
      <p:sp>
        <p:nvSpPr>
          <p:cNvPr id="19" name="Text 17"/>
          <p:cNvSpPr/>
          <p:nvPr/>
        </p:nvSpPr>
        <p:spPr>
          <a:xfrm>
            <a:off x="502920" y="3529584"/>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1143000" y="3557016"/>
            <a:ext cx="7498080" cy="457200"/>
          </a:xfrm>
          <a:prstGeom prst="rect">
            <a:avLst/>
          </a:prstGeom>
          <a:noFill/>
          <a:ln/>
        </p:spPr>
        <p:txBody>
          <a:bodyPr wrap="square" lIns="0" tIns="0" rIns="0" bIns="0" rtlCol="0" anchor="ctr"/>
          <a:lstStyle/>
          <a:p>
            <a:pPr marL="0" indent="0">
              <a:buNone/>
            </a:pPr>
            <a:r>
              <a:rPr lang="en-US" sz="1500" dirty="0">
                <a:solidFill>
                  <a:srgbClr val="0D1B2A"/>
                </a:solidFill>
              </a:rPr>
              <a:t>Model successfully predicts future crime trends</a:t>
            </a:r>
            <a:endParaRPr lang="en-US" sz="1500" dirty="0"/>
          </a:p>
        </p:txBody>
      </p:sp>
      <p:sp>
        <p:nvSpPr>
          <p:cNvPr id="21" name="Shape 19"/>
          <p:cNvSpPr/>
          <p:nvPr/>
        </p:nvSpPr>
        <p:spPr>
          <a:xfrm>
            <a:off x="365760" y="4233672"/>
            <a:ext cx="8412480" cy="685800"/>
          </a:xfrm>
          <a:prstGeom prst="rect">
            <a:avLst/>
          </a:prstGeom>
          <a:solidFill>
            <a:srgbClr val="FFFFFF"/>
          </a:solidFill>
          <a:ln/>
          <a:effectLst>
            <a:outerShdw blurRad="38100" dist="12700" dir="8100000" algn="bl" rotWithShape="0">
              <a:srgbClr val="000000">
                <a:alpha val="6000"/>
              </a:srgbClr>
            </a:outerShdw>
          </a:effectLst>
        </p:spPr>
      </p:sp>
      <p:sp>
        <p:nvSpPr>
          <p:cNvPr id="22" name="Shape 20"/>
          <p:cNvSpPr/>
          <p:nvPr/>
        </p:nvSpPr>
        <p:spPr>
          <a:xfrm>
            <a:off x="502920" y="4325112"/>
            <a:ext cx="502920" cy="502920"/>
          </a:xfrm>
          <a:prstGeom prst="ellipse">
            <a:avLst/>
          </a:prstGeom>
          <a:solidFill>
            <a:srgbClr val="C0392B"/>
          </a:solidFill>
          <a:ln w="12700">
            <a:solidFill>
              <a:srgbClr val="E74C3C"/>
            </a:solidFill>
            <a:prstDash val="solid"/>
          </a:ln>
        </p:spPr>
      </p:sp>
      <p:sp>
        <p:nvSpPr>
          <p:cNvPr id="23" name="Text 21"/>
          <p:cNvSpPr/>
          <p:nvPr/>
        </p:nvSpPr>
        <p:spPr>
          <a:xfrm>
            <a:off x="502920" y="4325112"/>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4" name="Text 22"/>
          <p:cNvSpPr/>
          <p:nvPr/>
        </p:nvSpPr>
        <p:spPr>
          <a:xfrm>
            <a:off x="1143000" y="4352544"/>
            <a:ext cx="7498080" cy="457200"/>
          </a:xfrm>
          <a:prstGeom prst="rect">
            <a:avLst/>
          </a:prstGeom>
          <a:noFill/>
          <a:ln/>
        </p:spPr>
        <p:txBody>
          <a:bodyPr wrap="square" lIns="0" tIns="0" rIns="0" bIns="0" rtlCol="0" anchor="ctr"/>
          <a:lstStyle/>
          <a:p>
            <a:pPr marL="0" indent="0">
              <a:buNone/>
            </a:pPr>
            <a:r>
              <a:rPr lang="en-US" sz="1500" dirty="0">
                <a:solidFill>
                  <a:srgbClr val="0D1B2A"/>
                </a:solidFill>
              </a:rPr>
              <a:t>Useful for early crime prevention planning by authorities</a:t>
            </a:r>
            <a:endParaRPr lang="en-US" sz="1500" dirty="0"/>
          </a:p>
        </p:txBody>
      </p:sp>
      <p:sp>
        <p:nvSpPr>
          <p:cNvPr id="25" name="Text 23"/>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20040" y="182880"/>
            <a:ext cx="8503920" cy="594360"/>
          </a:xfrm>
          <a:prstGeom prst="rect">
            <a:avLst/>
          </a:prstGeom>
          <a:noFill/>
          <a:ln/>
        </p:spPr>
        <p:txBody>
          <a:bodyPr wrap="square" lIns="0" tIns="0" rIns="0" bIns="0" rtlCol="0" anchor="ctr"/>
          <a:lstStyle/>
          <a:p>
            <a:pPr marL="0" indent="0">
              <a:buNone/>
            </a:pPr>
            <a:r>
              <a:rPr lang="en-US" sz="2600" b="1" dirty="0">
                <a:solidFill>
                  <a:srgbClr val="FFFFFF"/>
                </a:solidFill>
              </a:rPr>
              <a:t>CONCLUSION</a:t>
            </a:r>
            <a:endParaRPr lang="en-US" sz="2600" dirty="0"/>
          </a:p>
        </p:txBody>
      </p:sp>
      <p:sp>
        <p:nvSpPr>
          <p:cNvPr id="4" name="Shape 2"/>
          <p:cNvSpPr/>
          <p:nvPr/>
        </p:nvSpPr>
        <p:spPr>
          <a:xfrm>
            <a:off x="320040" y="804672"/>
            <a:ext cx="8503920" cy="36576"/>
          </a:xfrm>
          <a:prstGeom prst="rect">
            <a:avLst/>
          </a:prstGeom>
          <a:solidFill>
            <a:srgbClr val="8EAEC6"/>
          </a:solidFill>
          <a:ln w="12700">
            <a:solidFill>
              <a:srgbClr val="8EAEC6"/>
            </a:solidFill>
            <a:prstDash val="solid"/>
          </a:ln>
        </p:spPr>
      </p:sp>
      <p:sp>
        <p:nvSpPr>
          <p:cNvPr id="5" name="Shape 3"/>
          <p:cNvSpPr/>
          <p:nvPr/>
        </p:nvSpPr>
        <p:spPr>
          <a:xfrm>
            <a:off x="320040" y="960120"/>
            <a:ext cx="8503920" cy="1005840"/>
          </a:xfrm>
          <a:prstGeom prst="rect">
            <a:avLst/>
          </a:prstGeom>
          <a:solidFill>
            <a:srgbClr val="1A3A5C"/>
          </a:solidFill>
          <a:ln w="12700">
            <a:solidFill>
              <a:srgbClr val="8EAEC6"/>
            </a:solidFill>
            <a:prstDash val="solid"/>
          </a:ln>
        </p:spPr>
      </p:sp>
      <p:sp>
        <p:nvSpPr>
          <p:cNvPr id="6" name="Shape 4"/>
          <p:cNvSpPr/>
          <p:nvPr/>
        </p:nvSpPr>
        <p:spPr>
          <a:xfrm>
            <a:off x="320040" y="960120"/>
            <a:ext cx="109728" cy="1005840"/>
          </a:xfrm>
          <a:prstGeom prst="rect">
            <a:avLst/>
          </a:prstGeom>
          <a:solidFill>
            <a:srgbClr val="F39C12"/>
          </a:solidFill>
          <a:ln w="12700">
            <a:solidFill>
              <a:srgbClr val="F39C12"/>
            </a:solidFill>
            <a:prstDash val="solid"/>
          </a:ln>
        </p:spPr>
      </p:sp>
      <p:sp>
        <p:nvSpPr>
          <p:cNvPr id="7" name="Text 5"/>
          <p:cNvSpPr/>
          <p:nvPr/>
        </p:nvSpPr>
        <p:spPr>
          <a:xfrm>
            <a:off x="548640" y="960120"/>
            <a:ext cx="8138160" cy="1005840"/>
          </a:xfrm>
          <a:prstGeom prst="rect">
            <a:avLst/>
          </a:prstGeom>
          <a:noFill/>
          <a:ln/>
        </p:spPr>
        <p:txBody>
          <a:bodyPr wrap="square" lIns="0" tIns="0" rIns="0" bIns="0" rtlCol="0" anchor="ctr"/>
          <a:lstStyle/>
          <a:p>
            <a:pPr marL="0" indent="0">
              <a:buNone/>
            </a:pPr>
            <a:r>
              <a:rPr lang="en-US" sz="1700" dirty="0">
                <a:solidFill>
                  <a:srgbClr val="FFFFFF"/>
                </a:solidFill>
              </a:rPr>
              <a:t>Linear Regression effectively models and predicts crime trends across Indian states.</a:t>
            </a:r>
            <a:endParaRPr lang="en-US" sz="1700" dirty="0"/>
          </a:p>
        </p:txBody>
      </p:sp>
      <p:sp>
        <p:nvSpPr>
          <p:cNvPr id="8" name="Shape 6"/>
          <p:cNvSpPr/>
          <p:nvPr/>
        </p:nvSpPr>
        <p:spPr>
          <a:xfrm>
            <a:off x="320040" y="2148840"/>
            <a:ext cx="2743200" cy="2651760"/>
          </a:xfrm>
          <a:prstGeom prst="rect">
            <a:avLst/>
          </a:prstGeom>
          <a:solidFill>
            <a:srgbClr val="1A3A5C"/>
          </a:solidFill>
          <a:ln w="12700">
            <a:solidFill>
              <a:srgbClr val="8EAEC6"/>
            </a:solidFill>
            <a:prstDash val="solid"/>
          </a:ln>
        </p:spPr>
      </p:sp>
      <p:sp>
        <p:nvSpPr>
          <p:cNvPr id="9" name="Shape 7"/>
          <p:cNvSpPr/>
          <p:nvPr/>
        </p:nvSpPr>
        <p:spPr>
          <a:xfrm>
            <a:off x="1325880" y="2286000"/>
            <a:ext cx="731520" cy="731520"/>
          </a:xfrm>
          <a:prstGeom prst="ellipse">
            <a:avLst/>
          </a:prstGeom>
          <a:solidFill>
            <a:srgbClr val="C0392B"/>
          </a:solidFill>
          <a:ln w="12700">
            <a:solidFill>
              <a:srgbClr val="E74C3C"/>
            </a:solidFill>
            <a:prstDash val="solid"/>
          </a:ln>
        </p:spPr>
      </p:sp>
      <p:sp>
        <p:nvSpPr>
          <p:cNvPr id="10" name="Text 8"/>
          <p:cNvSpPr/>
          <p:nvPr/>
        </p:nvSpPr>
        <p:spPr>
          <a:xfrm>
            <a:off x="1325880" y="228600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411480" y="3154680"/>
            <a:ext cx="2560320" cy="502920"/>
          </a:xfrm>
          <a:prstGeom prst="rect">
            <a:avLst/>
          </a:prstGeom>
          <a:noFill/>
          <a:ln/>
        </p:spPr>
        <p:txBody>
          <a:bodyPr wrap="square" lIns="0" tIns="0" rIns="0" bIns="0" rtlCol="0" anchor="ctr"/>
          <a:lstStyle/>
          <a:p>
            <a:pPr marL="0" indent="0" algn="ctr">
              <a:buNone/>
            </a:pPr>
            <a:r>
              <a:rPr lang="en-US" sz="1300" b="1" dirty="0">
                <a:solidFill>
                  <a:srgbClr val="F39C12"/>
                </a:solidFill>
              </a:rPr>
              <a:t>Government Planning</a:t>
            </a:r>
            <a:endParaRPr lang="en-US" sz="1300" dirty="0"/>
          </a:p>
        </p:txBody>
      </p:sp>
      <p:sp>
        <p:nvSpPr>
          <p:cNvPr id="12" name="Text 10"/>
          <p:cNvSpPr/>
          <p:nvPr/>
        </p:nvSpPr>
        <p:spPr>
          <a:xfrm>
            <a:off x="411480" y="3703320"/>
            <a:ext cx="2560320" cy="1005840"/>
          </a:xfrm>
          <a:prstGeom prst="rect">
            <a:avLst/>
          </a:prstGeom>
          <a:noFill/>
          <a:ln/>
        </p:spPr>
        <p:txBody>
          <a:bodyPr wrap="square" lIns="0" tIns="0" rIns="0" bIns="0" rtlCol="0" anchor="ctr"/>
          <a:lstStyle/>
          <a:p>
            <a:pPr marL="0" indent="0" algn="ctr">
              <a:buNone/>
            </a:pPr>
            <a:r>
              <a:rPr lang="en-US" sz="1100" dirty="0">
                <a:solidFill>
                  <a:srgbClr val="D6E4F0"/>
                </a:solidFill>
              </a:rPr>
              <a:t>Data-driven insights for state-level crime policies</a:t>
            </a:r>
            <a:endParaRPr lang="en-US" sz="1100" dirty="0"/>
          </a:p>
        </p:txBody>
      </p:sp>
      <p:sp>
        <p:nvSpPr>
          <p:cNvPr id="13" name="Shape 11"/>
          <p:cNvSpPr/>
          <p:nvPr/>
        </p:nvSpPr>
        <p:spPr>
          <a:xfrm>
            <a:off x="3264408" y="2148840"/>
            <a:ext cx="2743200" cy="2651760"/>
          </a:xfrm>
          <a:prstGeom prst="rect">
            <a:avLst/>
          </a:prstGeom>
          <a:solidFill>
            <a:srgbClr val="1A3A5C"/>
          </a:solidFill>
          <a:ln w="12700">
            <a:solidFill>
              <a:srgbClr val="8EAEC6"/>
            </a:solidFill>
            <a:prstDash val="solid"/>
          </a:ln>
        </p:spPr>
      </p:sp>
      <p:sp>
        <p:nvSpPr>
          <p:cNvPr id="14" name="Shape 12"/>
          <p:cNvSpPr/>
          <p:nvPr/>
        </p:nvSpPr>
        <p:spPr>
          <a:xfrm>
            <a:off x="4270248" y="2286000"/>
            <a:ext cx="731520" cy="731520"/>
          </a:xfrm>
          <a:prstGeom prst="ellipse">
            <a:avLst/>
          </a:prstGeom>
          <a:solidFill>
            <a:srgbClr val="C0392B"/>
          </a:solidFill>
          <a:ln w="12700">
            <a:solidFill>
              <a:srgbClr val="E74C3C"/>
            </a:solidFill>
            <a:prstDash val="solid"/>
          </a:ln>
        </p:spPr>
      </p:sp>
      <p:sp>
        <p:nvSpPr>
          <p:cNvPr id="15" name="Text 13"/>
          <p:cNvSpPr/>
          <p:nvPr/>
        </p:nvSpPr>
        <p:spPr>
          <a:xfrm>
            <a:off x="4270248" y="228600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3355848" y="3154680"/>
            <a:ext cx="2560320" cy="502920"/>
          </a:xfrm>
          <a:prstGeom prst="rect">
            <a:avLst/>
          </a:prstGeom>
          <a:noFill/>
          <a:ln/>
        </p:spPr>
        <p:txBody>
          <a:bodyPr wrap="square" lIns="0" tIns="0" rIns="0" bIns="0" rtlCol="0" anchor="ctr"/>
          <a:lstStyle/>
          <a:p>
            <a:pPr marL="0" indent="0" algn="ctr">
              <a:buNone/>
            </a:pPr>
            <a:r>
              <a:rPr lang="en-US" sz="1300" b="1" dirty="0">
                <a:solidFill>
                  <a:srgbClr val="F39C12"/>
                </a:solidFill>
              </a:rPr>
              <a:t>Police Resource Allocation</a:t>
            </a:r>
            <a:endParaRPr lang="en-US" sz="1300" dirty="0"/>
          </a:p>
        </p:txBody>
      </p:sp>
      <p:sp>
        <p:nvSpPr>
          <p:cNvPr id="17" name="Text 15"/>
          <p:cNvSpPr/>
          <p:nvPr/>
        </p:nvSpPr>
        <p:spPr>
          <a:xfrm>
            <a:off x="3355848" y="3703320"/>
            <a:ext cx="2560320" cy="1005840"/>
          </a:xfrm>
          <a:prstGeom prst="rect">
            <a:avLst/>
          </a:prstGeom>
          <a:noFill/>
          <a:ln/>
        </p:spPr>
        <p:txBody>
          <a:bodyPr wrap="square" lIns="0" tIns="0" rIns="0" bIns="0" rtlCol="0" anchor="ctr"/>
          <a:lstStyle/>
          <a:p>
            <a:pPr marL="0" indent="0" algn="ctr">
              <a:buNone/>
            </a:pPr>
            <a:r>
              <a:rPr lang="en-US" sz="1100" dirty="0">
                <a:solidFill>
                  <a:srgbClr val="D6E4F0"/>
                </a:solidFill>
              </a:rPr>
              <a:t>Targeted deployment based on predicted crime hotspots</a:t>
            </a:r>
            <a:endParaRPr lang="en-US" sz="1100" dirty="0"/>
          </a:p>
        </p:txBody>
      </p:sp>
      <p:sp>
        <p:nvSpPr>
          <p:cNvPr id="18" name="Shape 16"/>
          <p:cNvSpPr/>
          <p:nvPr/>
        </p:nvSpPr>
        <p:spPr>
          <a:xfrm>
            <a:off x="6208776" y="2148840"/>
            <a:ext cx="2743200" cy="2651760"/>
          </a:xfrm>
          <a:prstGeom prst="rect">
            <a:avLst/>
          </a:prstGeom>
          <a:solidFill>
            <a:srgbClr val="1A3A5C"/>
          </a:solidFill>
          <a:ln w="12700">
            <a:solidFill>
              <a:srgbClr val="8EAEC6"/>
            </a:solidFill>
            <a:prstDash val="solid"/>
          </a:ln>
        </p:spPr>
      </p:sp>
      <p:sp>
        <p:nvSpPr>
          <p:cNvPr id="19" name="Shape 17"/>
          <p:cNvSpPr/>
          <p:nvPr/>
        </p:nvSpPr>
        <p:spPr>
          <a:xfrm>
            <a:off x="7214616" y="2286000"/>
            <a:ext cx="731520" cy="731520"/>
          </a:xfrm>
          <a:prstGeom prst="ellipse">
            <a:avLst/>
          </a:prstGeom>
          <a:solidFill>
            <a:srgbClr val="C0392B"/>
          </a:solidFill>
          <a:ln w="12700">
            <a:solidFill>
              <a:srgbClr val="E74C3C"/>
            </a:solidFill>
            <a:prstDash val="solid"/>
          </a:ln>
        </p:spPr>
      </p:sp>
      <p:sp>
        <p:nvSpPr>
          <p:cNvPr id="20" name="Text 18"/>
          <p:cNvSpPr/>
          <p:nvPr/>
        </p:nvSpPr>
        <p:spPr>
          <a:xfrm>
            <a:off x="7214616" y="228600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6300216" y="3154680"/>
            <a:ext cx="2560320" cy="502920"/>
          </a:xfrm>
          <a:prstGeom prst="rect">
            <a:avLst/>
          </a:prstGeom>
          <a:noFill/>
          <a:ln/>
        </p:spPr>
        <p:txBody>
          <a:bodyPr wrap="square" lIns="0" tIns="0" rIns="0" bIns="0" rtlCol="0" anchor="ctr"/>
          <a:lstStyle/>
          <a:p>
            <a:pPr marL="0" indent="0" algn="ctr">
              <a:buNone/>
            </a:pPr>
            <a:r>
              <a:rPr lang="en-US" sz="1300" b="1" dirty="0">
                <a:solidFill>
                  <a:srgbClr val="F39C12"/>
                </a:solidFill>
              </a:rPr>
              <a:t>Data-Driven Decisions</a:t>
            </a:r>
            <a:endParaRPr lang="en-US" sz="1300" dirty="0"/>
          </a:p>
        </p:txBody>
      </p:sp>
      <p:sp>
        <p:nvSpPr>
          <p:cNvPr id="22" name="Text 20"/>
          <p:cNvSpPr/>
          <p:nvPr/>
        </p:nvSpPr>
        <p:spPr>
          <a:xfrm>
            <a:off x="6300216" y="3703320"/>
            <a:ext cx="2560320" cy="1005840"/>
          </a:xfrm>
          <a:prstGeom prst="rect">
            <a:avLst/>
          </a:prstGeom>
          <a:noFill/>
          <a:ln/>
        </p:spPr>
        <p:txBody>
          <a:bodyPr wrap="square" lIns="0" tIns="0" rIns="0" bIns="0" rtlCol="0" anchor="ctr"/>
          <a:lstStyle/>
          <a:p>
            <a:pPr marL="0" indent="0" algn="ctr">
              <a:buNone/>
            </a:pPr>
            <a:r>
              <a:rPr lang="en-US" sz="1100" dirty="0">
                <a:solidFill>
                  <a:srgbClr val="D6E4F0"/>
                </a:solidFill>
              </a:rPr>
              <a:t>Reduces guesswork; improves accuracy of crime forecasting</a:t>
            </a:r>
            <a:endParaRPr lang="en-US" sz="1100" dirty="0"/>
          </a:p>
        </p:txBody>
      </p:sp>
      <p:sp>
        <p:nvSpPr>
          <p:cNvPr id="23" name="Text 21"/>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64592" cy="914400"/>
          </a:xfrm>
          <a:prstGeom prst="rect">
            <a:avLst/>
          </a:prstGeom>
          <a:solidFill>
            <a:srgbClr val="C0392B"/>
          </a:solidFill>
          <a:ln w="12700">
            <a:solidFill>
              <a:srgbClr val="C0392B"/>
            </a:solidFill>
            <a:prstDash val="solid"/>
          </a:ln>
        </p:spPr>
      </p:sp>
      <p:sp>
        <p:nvSpPr>
          <p:cNvPr id="4" name="Text 2"/>
          <p:cNvSpPr/>
          <p:nvPr/>
        </p:nvSpPr>
        <p:spPr>
          <a:xfrm>
            <a:off x="320040" y="137160"/>
            <a:ext cx="8503920" cy="640080"/>
          </a:xfrm>
          <a:prstGeom prst="rect">
            <a:avLst/>
          </a:prstGeom>
          <a:noFill/>
          <a:ln/>
        </p:spPr>
        <p:txBody>
          <a:bodyPr wrap="square" lIns="0" tIns="0" rIns="0" bIns="0" rtlCol="0" anchor="ctr"/>
          <a:lstStyle/>
          <a:p>
            <a:pPr marL="0" indent="0">
              <a:buNone/>
            </a:pPr>
            <a:r>
              <a:rPr lang="en-US" sz="2600" b="1" dirty="0">
                <a:solidFill>
                  <a:srgbClr val="FFFFFF"/>
                </a:solidFill>
              </a:rPr>
              <a:t>FUTURE WORK</a:t>
            </a:r>
            <a:endParaRPr lang="en-US" sz="2600" dirty="0"/>
          </a:p>
        </p:txBody>
      </p:sp>
      <p:sp>
        <p:nvSpPr>
          <p:cNvPr id="5" name="Shape 3"/>
          <p:cNvSpPr/>
          <p:nvPr/>
        </p:nvSpPr>
        <p:spPr>
          <a:xfrm>
            <a:off x="365760" y="1051560"/>
            <a:ext cx="2743200" cy="1554480"/>
          </a:xfrm>
          <a:prstGeom prst="rect">
            <a:avLst/>
          </a:prstGeom>
          <a:solidFill>
            <a:srgbClr val="FFFFFF"/>
          </a:solidFill>
          <a:ln/>
          <a:effectLst>
            <a:outerShdw blurRad="76200" dist="38100" dir="8100000" algn="bl" rotWithShape="0">
              <a:srgbClr val="000000">
                <a:alpha val="10000"/>
              </a:srgbClr>
            </a:outerShdw>
          </a:effectLst>
        </p:spPr>
      </p:sp>
      <p:sp>
        <p:nvSpPr>
          <p:cNvPr id="6" name="Shape 4"/>
          <p:cNvSpPr/>
          <p:nvPr/>
        </p:nvSpPr>
        <p:spPr>
          <a:xfrm>
            <a:off x="365760" y="1051560"/>
            <a:ext cx="109728" cy="1554480"/>
          </a:xfrm>
          <a:prstGeom prst="rect">
            <a:avLst/>
          </a:prstGeom>
          <a:solidFill>
            <a:srgbClr val="C0392B"/>
          </a:solidFill>
          <a:ln w="12700">
            <a:solidFill>
              <a:srgbClr val="C0392B"/>
            </a:solidFill>
            <a:prstDash val="solid"/>
          </a:ln>
        </p:spPr>
      </p:sp>
      <p:sp>
        <p:nvSpPr>
          <p:cNvPr id="7" name="Text 5"/>
          <p:cNvSpPr/>
          <p:nvPr/>
        </p:nvSpPr>
        <p:spPr>
          <a:xfrm>
            <a:off x="548640" y="1234440"/>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8" name="Text 6"/>
          <p:cNvSpPr/>
          <p:nvPr/>
        </p:nvSpPr>
        <p:spPr>
          <a:xfrm>
            <a:off x="548640" y="1920240"/>
            <a:ext cx="2468880" cy="365760"/>
          </a:xfrm>
          <a:prstGeom prst="rect">
            <a:avLst/>
          </a:prstGeom>
          <a:noFill/>
          <a:ln/>
        </p:spPr>
        <p:txBody>
          <a:bodyPr wrap="square" lIns="0" tIns="0" rIns="0" bIns="0" rtlCol="0" anchor="ctr"/>
          <a:lstStyle/>
          <a:p>
            <a:pPr marL="0" indent="0">
              <a:buNone/>
            </a:pPr>
            <a:r>
              <a:rPr lang="en-US" sz="1300" b="1" dirty="0">
                <a:solidFill>
                  <a:srgbClr val="0D1B2A"/>
                </a:solidFill>
              </a:rPr>
              <a:t>Random Forest</a:t>
            </a:r>
            <a:endParaRPr lang="en-US" sz="1300" dirty="0"/>
          </a:p>
        </p:txBody>
      </p:sp>
      <p:sp>
        <p:nvSpPr>
          <p:cNvPr id="9" name="Text 7"/>
          <p:cNvSpPr/>
          <p:nvPr/>
        </p:nvSpPr>
        <p:spPr>
          <a:xfrm>
            <a:off x="548640" y="2286000"/>
            <a:ext cx="2468880" cy="320040"/>
          </a:xfrm>
          <a:prstGeom prst="rect">
            <a:avLst/>
          </a:prstGeom>
          <a:noFill/>
          <a:ln/>
        </p:spPr>
        <p:txBody>
          <a:bodyPr wrap="square" lIns="0" tIns="0" rIns="0" bIns="0" rtlCol="0" anchor="ctr"/>
          <a:lstStyle/>
          <a:p>
            <a:pPr marL="0" indent="0">
              <a:buNone/>
            </a:pPr>
            <a:r>
              <a:rPr lang="en-US" sz="1100" dirty="0">
                <a:solidFill>
                  <a:srgbClr val="4A6277"/>
                </a:solidFill>
              </a:rPr>
              <a:t>Advanced ensemble model for higher accuracy</a:t>
            </a:r>
            <a:endParaRPr lang="en-US" sz="1100" dirty="0"/>
          </a:p>
        </p:txBody>
      </p:sp>
      <p:sp>
        <p:nvSpPr>
          <p:cNvPr id="10" name="Shape 8"/>
          <p:cNvSpPr/>
          <p:nvPr/>
        </p:nvSpPr>
        <p:spPr>
          <a:xfrm>
            <a:off x="3200400" y="1051560"/>
            <a:ext cx="2743200" cy="1554480"/>
          </a:xfrm>
          <a:prstGeom prst="rect">
            <a:avLst/>
          </a:prstGeom>
          <a:solidFill>
            <a:srgbClr val="FFFFFF"/>
          </a:solidFill>
          <a:ln/>
          <a:effectLst>
            <a:outerShdw blurRad="76200" dist="38100" dir="8100000" algn="bl" rotWithShape="0">
              <a:srgbClr val="000000">
                <a:alpha val="10000"/>
              </a:srgbClr>
            </a:outerShdw>
          </a:effectLst>
        </p:spPr>
      </p:sp>
      <p:sp>
        <p:nvSpPr>
          <p:cNvPr id="11" name="Shape 9"/>
          <p:cNvSpPr/>
          <p:nvPr/>
        </p:nvSpPr>
        <p:spPr>
          <a:xfrm>
            <a:off x="3200400" y="1051560"/>
            <a:ext cx="109728" cy="1554480"/>
          </a:xfrm>
          <a:prstGeom prst="rect">
            <a:avLst/>
          </a:prstGeom>
          <a:solidFill>
            <a:srgbClr val="C0392B"/>
          </a:solidFill>
          <a:ln w="12700">
            <a:solidFill>
              <a:srgbClr val="C0392B"/>
            </a:solidFill>
            <a:prstDash val="solid"/>
          </a:ln>
        </p:spPr>
      </p:sp>
      <p:sp>
        <p:nvSpPr>
          <p:cNvPr id="12" name="Text 10"/>
          <p:cNvSpPr/>
          <p:nvPr/>
        </p:nvSpPr>
        <p:spPr>
          <a:xfrm>
            <a:off x="3383280" y="1234440"/>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3" name="Text 11"/>
          <p:cNvSpPr/>
          <p:nvPr/>
        </p:nvSpPr>
        <p:spPr>
          <a:xfrm>
            <a:off x="3383280" y="1920240"/>
            <a:ext cx="2468880" cy="365760"/>
          </a:xfrm>
          <a:prstGeom prst="rect">
            <a:avLst/>
          </a:prstGeom>
          <a:noFill/>
          <a:ln/>
        </p:spPr>
        <p:txBody>
          <a:bodyPr wrap="square" lIns="0" tIns="0" rIns="0" bIns="0" rtlCol="0" anchor="ctr"/>
          <a:lstStyle/>
          <a:p>
            <a:pPr marL="0" indent="0">
              <a:buNone/>
            </a:pPr>
            <a:r>
              <a:rPr lang="en-US" sz="1300" b="1" dirty="0">
                <a:solidFill>
                  <a:srgbClr val="0D1B2A"/>
                </a:solidFill>
              </a:rPr>
              <a:t>ARIMA / Time Series</a:t>
            </a:r>
            <a:endParaRPr lang="en-US" sz="1300" dirty="0"/>
          </a:p>
        </p:txBody>
      </p:sp>
      <p:sp>
        <p:nvSpPr>
          <p:cNvPr id="14" name="Text 12"/>
          <p:cNvSpPr/>
          <p:nvPr/>
        </p:nvSpPr>
        <p:spPr>
          <a:xfrm>
            <a:off x="3383280" y="2286000"/>
            <a:ext cx="2468880" cy="320040"/>
          </a:xfrm>
          <a:prstGeom prst="rect">
            <a:avLst/>
          </a:prstGeom>
          <a:noFill/>
          <a:ln/>
        </p:spPr>
        <p:txBody>
          <a:bodyPr wrap="square" lIns="0" tIns="0" rIns="0" bIns="0" rtlCol="0" anchor="ctr"/>
          <a:lstStyle/>
          <a:p>
            <a:pPr marL="0" indent="0">
              <a:buNone/>
            </a:pPr>
            <a:r>
              <a:rPr lang="en-US" sz="1100" dirty="0">
                <a:solidFill>
                  <a:srgbClr val="4A6277"/>
                </a:solidFill>
              </a:rPr>
              <a:t>Specialized time-series forecasting model</a:t>
            </a:r>
            <a:endParaRPr lang="en-US" sz="1100" dirty="0"/>
          </a:p>
        </p:txBody>
      </p:sp>
      <p:sp>
        <p:nvSpPr>
          <p:cNvPr id="15" name="Shape 13"/>
          <p:cNvSpPr/>
          <p:nvPr/>
        </p:nvSpPr>
        <p:spPr>
          <a:xfrm>
            <a:off x="6035040" y="1051560"/>
            <a:ext cx="2743200" cy="1554480"/>
          </a:xfrm>
          <a:prstGeom prst="rect">
            <a:avLst/>
          </a:prstGeom>
          <a:solidFill>
            <a:srgbClr val="FFFFFF"/>
          </a:solidFill>
          <a:ln/>
          <a:effectLst>
            <a:outerShdw blurRad="76200" dist="38100" dir="8100000" algn="bl" rotWithShape="0">
              <a:srgbClr val="000000">
                <a:alpha val="10000"/>
              </a:srgbClr>
            </a:outerShdw>
          </a:effectLst>
        </p:spPr>
      </p:sp>
      <p:sp>
        <p:nvSpPr>
          <p:cNvPr id="16" name="Shape 14"/>
          <p:cNvSpPr/>
          <p:nvPr/>
        </p:nvSpPr>
        <p:spPr>
          <a:xfrm>
            <a:off x="6035040" y="1051560"/>
            <a:ext cx="109728" cy="1554480"/>
          </a:xfrm>
          <a:prstGeom prst="rect">
            <a:avLst/>
          </a:prstGeom>
          <a:solidFill>
            <a:srgbClr val="C0392B"/>
          </a:solidFill>
          <a:ln w="12700">
            <a:solidFill>
              <a:srgbClr val="C0392B"/>
            </a:solidFill>
            <a:prstDash val="solid"/>
          </a:ln>
        </p:spPr>
      </p:sp>
      <p:sp>
        <p:nvSpPr>
          <p:cNvPr id="17" name="Text 15"/>
          <p:cNvSpPr/>
          <p:nvPr/>
        </p:nvSpPr>
        <p:spPr>
          <a:xfrm>
            <a:off x="6217920" y="1234440"/>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8" name="Text 16"/>
          <p:cNvSpPr/>
          <p:nvPr/>
        </p:nvSpPr>
        <p:spPr>
          <a:xfrm>
            <a:off x="6217920" y="1920240"/>
            <a:ext cx="2468880" cy="365760"/>
          </a:xfrm>
          <a:prstGeom prst="rect">
            <a:avLst/>
          </a:prstGeom>
          <a:noFill/>
          <a:ln/>
        </p:spPr>
        <p:txBody>
          <a:bodyPr wrap="square" lIns="0" tIns="0" rIns="0" bIns="0" rtlCol="0" anchor="ctr"/>
          <a:lstStyle/>
          <a:p>
            <a:pPr marL="0" indent="0">
              <a:buNone/>
            </a:pPr>
            <a:r>
              <a:rPr lang="en-US" sz="1300" b="1" dirty="0">
                <a:solidFill>
                  <a:srgbClr val="0D1B2A"/>
                </a:solidFill>
              </a:rPr>
              <a:t>More Features</a:t>
            </a:r>
            <a:endParaRPr lang="en-US" sz="1300" dirty="0"/>
          </a:p>
        </p:txBody>
      </p:sp>
      <p:sp>
        <p:nvSpPr>
          <p:cNvPr id="19" name="Text 17"/>
          <p:cNvSpPr/>
          <p:nvPr/>
        </p:nvSpPr>
        <p:spPr>
          <a:xfrm>
            <a:off x="6217920" y="2286000"/>
            <a:ext cx="2468880" cy="320040"/>
          </a:xfrm>
          <a:prstGeom prst="rect">
            <a:avLst/>
          </a:prstGeom>
          <a:noFill/>
          <a:ln/>
        </p:spPr>
        <p:txBody>
          <a:bodyPr wrap="square" lIns="0" tIns="0" rIns="0" bIns="0" rtlCol="0" anchor="ctr"/>
          <a:lstStyle/>
          <a:p>
            <a:pPr marL="0" indent="0">
              <a:buNone/>
            </a:pPr>
            <a:r>
              <a:rPr lang="en-US" sz="1100" dirty="0">
                <a:solidFill>
                  <a:srgbClr val="4A6277"/>
                </a:solidFill>
              </a:rPr>
              <a:t>Include population, economic &amp; social factors</a:t>
            </a:r>
            <a:endParaRPr lang="en-US" sz="1100" dirty="0"/>
          </a:p>
        </p:txBody>
      </p:sp>
      <p:sp>
        <p:nvSpPr>
          <p:cNvPr id="20" name="Shape 18"/>
          <p:cNvSpPr/>
          <p:nvPr/>
        </p:nvSpPr>
        <p:spPr>
          <a:xfrm>
            <a:off x="365760" y="2880360"/>
            <a:ext cx="4114800" cy="1554480"/>
          </a:xfrm>
          <a:prstGeom prst="rect">
            <a:avLst/>
          </a:prstGeom>
          <a:solidFill>
            <a:srgbClr val="FFFFFF"/>
          </a:solidFill>
          <a:ln/>
          <a:effectLst>
            <a:outerShdw blurRad="76200" dist="38100" dir="8100000" algn="bl" rotWithShape="0">
              <a:srgbClr val="000000">
                <a:alpha val="10000"/>
              </a:srgbClr>
            </a:outerShdw>
          </a:effectLst>
        </p:spPr>
      </p:sp>
      <p:sp>
        <p:nvSpPr>
          <p:cNvPr id="21" name="Shape 19"/>
          <p:cNvSpPr/>
          <p:nvPr/>
        </p:nvSpPr>
        <p:spPr>
          <a:xfrm>
            <a:off x="365760" y="2880360"/>
            <a:ext cx="109728" cy="1554480"/>
          </a:xfrm>
          <a:prstGeom prst="rect">
            <a:avLst/>
          </a:prstGeom>
          <a:solidFill>
            <a:srgbClr val="C0392B"/>
          </a:solidFill>
          <a:ln w="12700">
            <a:solidFill>
              <a:srgbClr val="C0392B"/>
            </a:solidFill>
            <a:prstDash val="solid"/>
          </a:ln>
        </p:spPr>
      </p:sp>
      <p:sp>
        <p:nvSpPr>
          <p:cNvPr id="22" name="Text 20"/>
          <p:cNvSpPr/>
          <p:nvPr/>
        </p:nvSpPr>
        <p:spPr>
          <a:xfrm>
            <a:off x="548640" y="3063240"/>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3" name="Text 21"/>
          <p:cNvSpPr/>
          <p:nvPr/>
        </p:nvSpPr>
        <p:spPr>
          <a:xfrm>
            <a:off x="548640" y="3749040"/>
            <a:ext cx="3840480" cy="365760"/>
          </a:xfrm>
          <a:prstGeom prst="rect">
            <a:avLst/>
          </a:prstGeom>
          <a:noFill/>
          <a:ln/>
        </p:spPr>
        <p:txBody>
          <a:bodyPr wrap="square" lIns="0" tIns="0" rIns="0" bIns="0" rtlCol="0" anchor="ctr"/>
          <a:lstStyle/>
          <a:p>
            <a:pPr marL="0" indent="0">
              <a:buNone/>
            </a:pPr>
            <a:r>
              <a:rPr lang="en-US" sz="1300" b="1" dirty="0">
                <a:solidFill>
                  <a:srgbClr val="0D1B2A"/>
                </a:solidFill>
              </a:rPr>
              <a:t>Power BI Dashboard</a:t>
            </a:r>
            <a:endParaRPr lang="en-US" sz="1300" dirty="0"/>
          </a:p>
        </p:txBody>
      </p:sp>
      <p:sp>
        <p:nvSpPr>
          <p:cNvPr id="24" name="Text 22"/>
          <p:cNvSpPr/>
          <p:nvPr/>
        </p:nvSpPr>
        <p:spPr>
          <a:xfrm>
            <a:off x="548640" y="4114800"/>
            <a:ext cx="3840480" cy="320040"/>
          </a:xfrm>
          <a:prstGeom prst="rect">
            <a:avLst/>
          </a:prstGeom>
          <a:noFill/>
          <a:ln/>
        </p:spPr>
        <p:txBody>
          <a:bodyPr wrap="square" lIns="0" tIns="0" rIns="0" bIns="0" rtlCol="0" anchor="ctr"/>
          <a:lstStyle/>
          <a:p>
            <a:pPr marL="0" indent="0">
              <a:buNone/>
            </a:pPr>
            <a:r>
              <a:rPr lang="en-US" sz="1100" dirty="0">
                <a:solidFill>
                  <a:srgbClr val="4A6277"/>
                </a:solidFill>
              </a:rPr>
              <a:t>Interactive visualization for stakeholders</a:t>
            </a:r>
            <a:endParaRPr lang="en-US" sz="1100" dirty="0"/>
          </a:p>
        </p:txBody>
      </p:sp>
      <p:sp>
        <p:nvSpPr>
          <p:cNvPr id="25" name="Shape 23"/>
          <p:cNvSpPr/>
          <p:nvPr/>
        </p:nvSpPr>
        <p:spPr>
          <a:xfrm>
            <a:off x="4754880" y="2880360"/>
            <a:ext cx="4114800" cy="1554480"/>
          </a:xfrm>
          <a:prstGeom prst="rect">
            <a:avLst/>
          </a:prstGeom>
          <a:solidFill>
            <a:srgbClr val="FFFFFF"/>
          </a:solidFill>
          <a:ln/>
          <a:effectLst>
            <a:outerShdw blurRad="76200" dist="38100" dir="8100000" algn="bl" rotWithShape="0">
              <a:srgbClr val="000000">
                <a:alpha val="10000"/>
              </a:srgbClr>
            </a:outerShdw>
          </a:effectLst>
        </p:spPr>
      </p:sp>
      <p:sp>
        <p:nvSpPr>
          <p:cNvPr id="26" name="Shape 24"/>
          <p:cNvSpPr/>
          <p:nvPr/>
        </p:nvSpPr>
        <p:spPr>
          <a:xfrm>
            <a:off x="4754880" y="2880360"/>
            <a:ext cx="109728" cy="1554480"/>
          </a:xfrm>
          <a:prstGeom prst="rect">
            <a:avLst/>
          </a:prstGeom>
          <a:solidFill>
            <a:srgbClr val="C0392B"/>
          </a:solidFill>
          <a:ln w="12700">
            <a:solidFill>
              <a:srgbClr val="C0392B"/>
            </a:solidFill>
            <a:prstDash val="solid"/>
          </a:ln>
        </p:spPr>
      </p:sp>
      <p:sp>
        <p:nvSpPr>
          <p:cNvPr id="27" name="Text 25"/>
          <p:cNvSpPr/>
          <p:nvPr/>
        </p:nvSpPr>
        <p:spPr>
          <a:xfrm>
            <a:off x="4937760" y="3063240"/>
            <a:ext cx="640080" cy="640080"/>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8" name="Text 26"/>
          <p:cNvSpPr/>
          <p:nvPr/>
        </p:nvSpPr>
        <p:spPr>
          <a:xfrm>
            <a:off x="4937760" y="3749040"/>
            <a:ext cx="3840480" cy="365760"/>
          </a:xfrm>
          <a:prstGeom prst="rect">
            <a:avLst/>
          </a:prstGeom>
          <a:noFill/>
          <a:ln/>
        </p:spPr>
        <p:txBody>
          <a:bodyPr wrap="square" lIns="0" tIns="0" rIns="0" bIns="0" rtlCol="0" anchor="ctr"/>
          <a:lstStyle/>
          <a:p>
            <a:pPr marL="0" indent="0">
              <a:buNone/>
            </a:pPr>
            <a:r>
              <a:rPr lang="en-US" sz="1300" b="1" dirty="0">
                <a:solidFill>
                  <a:srgbClr val="0D1B2A"/>
                </a:solidFill>
              </a:rPr>
              <a:t>Real-Time Prediction</a:t>
            </a:r>
            <a:endParaRPr lang="en-US" sz="1300" dirty="0"/>
          </a:p>
        </p:txBody>
      </p:sp>
      <p:sp>
        <p:nvSpPr>
          <p:cNvPr id="29" name="Text 27"/>
          <p:cNvSpPr/>
          <p:nvPr/>
        </p:nvSpPr>
        <p:spPr>
          <a:xfrm>
            <a:off x="4937760" y="4114800"/>
            <a:ext cx="3840480" cy="320040"/>
          </a:xfrm>
          <a:prstGeom prst="rect">
            <a:avLst/>
          </a:prstGeom>
          <a:noFill/>
          <a:ln/>
        </p:spPr>
        <p:txBody>
          <a:bodyPr wrap="square" lIns="0" tIns="0" rIns="0" bIns="0" rtlCol="0" anchor="ctr"/>
          <a:lstStyle/>
          <a:p>
            <a:pPr marL="0" indent="0">
              <a:buNone/>
            </a:pPr>
            <a:r>
              <a:rPr lang="en-US" sz="1100" dirty="0">
                <a:solidFill>
                  <a:srgbClr val="4A6277"/>
                </a:solidFill>
              </a:rPr>
              <a:t>Live crime prediction system with updated data</a:t>
            </a:r>
            <a:endParaRPr lang="en-US" sz="1100" dirty="0"/>
          </a:p>
        </p:txBody>
      </p:sp>
      <p:sp>
        <p:nvSpPr>
          <p:cNvPr id="30" name="Text 28"/>
          <p:cNvSpPr/>
          <p:nvPr/>
        </p:nvSpPr>
        <p:spPr>
          <a:xfrm>
            <a:off x="8595360" y="4663440"/>
            <a:ext cx="457200" cy="365760"/>
          </a:xfrm>
          <a:prstGeom prst="rect">
            <a:avLst/>
          </a:prstGeom>
          <a:noFill/>
          <a:ln/>
        </p:spPr>
        <p:txBody>
          <a:bodyPr wrap="square" lIns="0" tIns="0" rIns="0" bIns="0" rtlCol="0" anchor="ctr"/>
          <a:lstStyle/>
          <a:p>
            <a:pPr marL="0" indent="0" algn="r">
              <a:buNone/>
            </a:pPr>
            <a:r>
              <a:rPr lang="en-US" sz="1000" dirty="0">
                <a:solidFill>
                  <a:srgbClr val="8EAEC6"/>
                </a:solidFill>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506</Words>
  <Application>Microsoft Office PowerPoint</Application>
  <PresentationFormat>On-screen Show (16:9)</PresentationFormat>
  <Paragraphs>157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Analysis of Crime Trends in Indian States</dc:title>
  <dc:subject>PptxGenJS Presentation</dc:subject>
  <dc:creator>PptxGenJS</dc:creator>
  <cp:lastModifiedBy>Giridharan G</cp:lastModifiedBy>
  <cp:revision>3</cp:revision>
  <dcterms:created xsi:type="dcterms:W3CDTF">2026-04-06T14:35:38Z</dcterms:created>
  <dcterms:modified xsi:type="dcterms:W3CDTF">2026-04-06T14:43:20Z</dcterms:modified>
</cp:coreProperties>
</file>